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2" r:id="rId6"/>
    <p:sldId id="263" r:id="rId7"/>
    <p:sldId id="264" r:id="rId8"/>
    <p:sldId id="265" r:id="rId9"/>
    <p:sldId id="267" r:id="rId10"/>
    <p:sldId id="269" r:id="rId11"/>
    <p:sldId id="270"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97"/>
    <p:restoredTop sz="78776"/>
  </p:normalViewPr>
  <p:slideViewPr>
    <p:cSldViewPr snapToGrid="0" snapToObjects="1">
      <p:cViewPr varScale="1">
        <p:scale>
          <a:sx n="99" d="100"/>
          <a:sy n="99" d="100"/>
        </p:scale>
        <p:origin x="10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7B37FB-47EE-D34C-A94D-DFE9BF99B99A}" type="datetimeFigureOut">
              <a:rPr kumimoji="1" lang="ja-JP" altLang="en-US" smtClean="0"/>
              <a:t>2025/2/8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D2189F-3B9E-9043-ADA1-E3901027A190}" type="slidenum">
              <a:rPr kumimoji="1" lang="ja-JP" altLang="en-US" smtClean="0"/>
              <a:t>‹#›</a:t>
            </a:fld>
            <a:endParaRPr kumimoji="1" lang="ja-JP" altLang="en-US"/>
          </a:p>
        </p:txBody>
      </p:sp>
    </p:spTree>
    <p:extLst>
      <p:ext uri="{BB962C8B-B14F-4D97-AF65-F5344CB8AC3E}">
        <p14:creationId xmlns:p14="http://schemas.microsoft.com/office/powerpoint/2010/main" val="10043340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ja-JP" altLang="en-US"/>
              <a:t>私</a:t>
            </a:r>
            <a:r>
              <a:rPr lang="ja-JP" altLang="en-US"/>
              <a:t>は「研究室に来ること」にゲーミフィケーションを適用することで、ゲームを通じて学生に自ら研究室に来ることの動機を与えるこ</a:t>
            </a:r>
          </a:p>
          <a:p>
            <a:pPr marL="0" indent="0">
              <a:buNone/>
            </a:pPr>
            <a:r>
              <a:rPr lang="ja-JP" altLang="en-US"/>
              <a:t>とを目指しました。</a:t>
            </a:r>
            <a:endParaRPr lang="en-US" altLang="ja-JP" dirty="0"/>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1</a:t>
            </a:fld>
            <a:endParaRPr kumimoji="1" lang="ja-JP" altLang="en-US"/>
          </a:p>
        </p:txBody>
      </p:sp>
    </p:spTree>
    <p:extLst>
      <p:ext uri="{BB962C8B-B14F-4D97-AF65-F5344CB8AC3E}">
        <p14:creationId xmlns:p14="http://schemas.microsoft.com/office/powerpoint/2010/main" val="3210475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突然ですが、質問ですあなたの研究室に学生は来ますか</a:t>
            </a:r>
            <a:endParaRPr kumimoji="1" lang="en-US" altLang="ja-JP" dirty="0"/>
          </a:p>
          <a:p>
            <a:r>
              <a:rPr kumimoji="1" lang="ja-JP" altLang="en-US"/>
              <a:t>少なくともうちは来ません</a:t>
            </a:r>
            <a:endParaRPr kumimoji="1" lang="en-US" altLang="ja-JP" dirty="0"/>
          </a:p>
          <a:p>
            <a:endParaRPr kumimoji="1" lang="en-US" altLang="ja-JP" dirty="0"/>
          </a:p>
          <a:p>
            <a:r>
              <a:rPr kumimoji="1" lang="ja-JP" altLang="en-US"/>
              <a:t>てか俺も行ってませんでした</a:t>
            </a:r>
            <a:r>
              <a:rPr kumimoji="1" lang="en-US" altLang="ja-JP" dirty="0"/>
              <a:t>w</a:t>
            </a:r>
          </a:p>
          <a:p>
            <a:endParaRPr kumimoji="1" lang="en-US" altLang="ja-JP" dirty="0"/>
          </a:p>
          <a:p>
            <a:r>
              <a:rPr kumimoji="1" lang="ja-JP" altLang="en-US"/>
              <a:t>身だしなみだとか、人目だとか色々理由はありますが</a:t>
            </a:r>
            <a:endParaRPr kumimoji="1" lang="en-US" altLang="ja-JP" dirty="0"/>
          </a:p>
          <a:p>
            <a:r>
              <a:rPr kumimoji="1" lang="ja-JP" altLang="en-US"/>
              <a:t>やっぱりめんどくさいんです</a:t>
            </a:r>
            <a:endParaRPr kumimoji="1" lang="en-US" altLang="ja-JP" dirty="0"/>
          </a:p>
          <a:p>
            <a:endParaRPr kumimoji="1" lang="en-US" altLang="ja-JP" dirty="0"/>
          </a:p>
          <a:p>
            <a:r>
              <a:rPr kumimoji="1" lang="ja-JP" altLang="en-US"/>
              <a:t>でも、研究室に来ることの利点はたくさんあると思います</a:t>
            </a:r>
            <a:endParaRPr kumimoji="1" lang="en-US" altLang="ja-JP" dirty="0"/>
          </a:p>
          <a:p>
            <a:r>
              <a:rPr kumimoji="1" lang="en-US" altLang="ja-JP" dirty="0"/>
              <a:t>1</a:t>
            </a:r>
            <a:r>
              <a:rPr kumimoji="1" lang="ja-JP" altLang="en-US"/>
              <a:t>つ目が研究に集中できること</a:t>
            </a:r>
            <a:endParaRPr kumimoji="1" lang="en-US" altLang="ja-JP" dirty="0"/>
          </a:p>
          <a:p>
            <a:r>
              <a:rPr kumimoji="1" lang="en-US" altLang="ja-JP" dirty="0"/>
              <a:t>2</a:t>
            </a:r>
            <a:r>
              <a:rPr kumimoji="1" lang="ja-JP" altLang="en-US"/>
              <a:t>つ目が研究室に来ると何気ない雑談や、本格的な研究の議論を通じて研究にとって有意義な時間を過ごせることがある</a:t>
            </a:r>
            <a:endParaRPr kumimoji="1" lang="en-US" altLang="ja-JP" dirty="0"/>
          </a:p>
          <a:p>
            <a:endParaRPr kumimoji="1" lang="en-US" altLang="ja-JP" dirty="0"/>
          </a:p>
          <a:p>
            <a:r>
              <a:rPr kumimoji="1" lang="ja-JP" altLang="en-US"/>
              <a:t>同じ研究室のみんなにはこの「話すこと」のメリットを知ってもらい、同じ研究室で研究ができたらいいなと言うことで</a:t>
            </a:r>
            <a:endParaRPr kumimoji="1" lang="en-US" altLang="ja-JP" dirty="0"/>
          </a:p>
          <a:p>
            <a:r>
              <a:rPr kumimoji="1" lang="ja-JP" altLang="en-US"/>
              <a:t>どのようにしたら研究室に来てもらうかを考えました。</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2</a:t>
            </a:fld>
            <a:endParaRPr kumimoji="1" lang="ja-JP" altLang="en-US"/>
          </a:p>
        </p:txBody>
      </p:sp>
    </p:spTree>
    <p:extLst>
      <p:ext uri="{BB962C8B-B14F-4D97-AF65-F5344CB8AC3E}">
        <p14:creationId xmlns:p14="http://schemas.microsoft.com/office/powerpoint/2010/main" val="841264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じゃあどうやったら研究室に人が来るのか</a:t>
            </a:r>
            <a:endParaRPr kumimoji="1" lang="en-US" altLang="ja-JP" dirty="0"/>
          </a:p>
          <a:p>
            <a:r>
              <a:rPr kumimoji="1" lang="ja-JP" altLang="en-US"/>
              <a:t>それらのメリットがあるのは頭ではわかっている、しかしめんどくさいのはめんどくさい</a:t>
            </a:r>
            <a:endParaRPr kumimoji="1" lang="en-US" altLang="ja-JP" dirty="0"/>
          </a:p>
          <a:p>
            <a:r>
              <a:rPr kumimoji="1" lang="ja-JP" altLang="en-US"/>
              <a:t>それはめんどいことを凌駕する動機があればいい</a:t>
            </a:r>
            <a:endParaRPr kumimoji="1" lang="en-US" altLang="ja-JP" dirty="0"/>
          </a:p>
          <a:p>
            <a:endParaRPr kumimoji="1" lang="en-US" altLang="ja-JP" dirty="0"/>
          </a:p>
          <a:p>
            <a:r>
              <a:rPr kumimoji="1" lang="ja-JP" altLang="en-US"/>
              <a:t>動機について、動機には</a:t>
            </a:r>
            <a:r>
              <a:rPr kumimoji="1" lang="en-US" altLang="ja-JP" dirty="0"/>
              <a:t>2</a:t>
            </a:r>
            <a:r>
              <a:rPr kumimoji="1" lang="ja-JP" altLang="en-US"/>
              <a:t>種類ある。</a:t>
            </a:r>
            <a:endParaRPr kumimoji="1" lang="en-US" altLang="ja-JP" dirty="0"/>
          </a:p>
          <a:p>
            <a:endParaRPr kumimoji="1" lang="en-US" altLang="ja-JP" dirty="0"/>
          </a:p>
          <a:p>
            <a:r>
              <a:rPr kumimoji="1" lang="ja-JP" altLang="en-US"/>
              <a:t>内発的動機であり、卒業研究で例えると研究が好きで</a:t>
            </a:r>
            <a:endParaRPr kumimoji="1" lang="en-US" altLang="ja-JP" dirty="0"/>
          </a:p>
          <a:p>
            <a:r>
              <a:rPr kumimoji="1" lang="ja-JP" altLang="en-US"/>
              <a:t>研究自体に動機を見出していることを言います</a:t>
            </a:r>
            <a:endParaRPr kumimoji="1" lang="en-US" altLang="ja-JP" dirty="0"/>
          </a:p>
          <a:p>
            <a:r>
              <a:rPr kumimoji="1" lang="ja-JP" altLang="en-US"/>
              <a:t>ただ、元から研究が好きな人はあんまりいないと思うし、いた場合でもその人たちはすでに研究室に来ていると思います。</a:t>
            </a:r>
            <a:endParaRPr kumimoji="1" lang="en-US" altLang="ja-JP" dirty="0"/>
          </a:p>
          <a:p>
            <a:endParaRPr kumimoji="1" lang="en-US" altLang="ja-JP" dirty="0"/>
          </a:p>
          <a:p>
            <a:endParaRPr kumimoji="1" lang="en-US" altLang="ja-JP" dirty="0"/>
          </a:p>
          <a:p>
            <a:r>
              <a:rPr kumimoji="1" lang="en-US" altLang="ja-JP" dirty="0"/>
              <a:t>2</a:t>
            </a:r>
            <a:r>
              <a:rPr kumimoji="1" lang="ja-JP" altLang="en-US"/>
              <a:t>つ目が外発的動機であり、</a:t>
            </a:r>
            <a:endParaRPr kumimoji="1" lang="en-US" altLang="ja-JP" dirty="0"/>
          </a:p>
          <a:p>
            <a:r>
              <a:rPr kumimoji="1" lang="ja-JP" altLang="en-US"/>
              <a:t>卒業研究で言うと単位やコアタイムがある</a:t>
            </a:r>
            <a:endParaRPr kumimoji="1" lang="en-US" altLang="ja-JP" dirty="0"/>
          </a:p>
          <a:p>
            <a:r>
              <a:rPr kumimoji="1" lang="ja-JP" altLang="en-US"/>
              <a:t>「研究室に来ないと、単位がもらえない」</a:t>
            </a:r>
            <a:endParaRPr kumimoji="1" lang="en-US" altLang="ja-JP" dirty="0"/>
          </a:p>
          <a:p>
            <a:r>
              <a:rPr kumimoji="1" lang="ja-JP" altLang="en-US"/>
              <a:t>と言われると嫌でも行かなければならない</a:t>
            </a:r>
            <a:endParaRPr kumimoji="1" lang="en-US" altLang="ja-JP" dirty="0"/>
          </a:p>
          <a:p>
            <a:r>
              <a:rPr kumimoji="1" lang="ja-JP" altLang="en-US"/>
              <a:t>このように罰や報酬などを行動のきっかけとする動機を外発的動機という。</a:t>
            </a:r>
            <a:endParaRPr kumimoji="1" lang="en-US" altLang="ja-JP" dirty="0"/>
          </a:p>
          <a:p>
            <a:r>
              <a:rPr kumimoji="1" lang="ja-JP" altLang="en-US"/>
              <a:t>ただこの場合、「いやいや」研究室に来ていることあり</a:t>
            </a:r>
            <a:endParaRPr kumimoji="1" lang="en-US" altLang="ja-JP" dirty="0"/>
          </a:p>
          <a:p>
            <a:r>
              <a:rPr kumimoji="1" lang="ja-JP" altLang="en-US"/>
              <a:t>先程述べた</a:t>
            </a:r>
            <a:r>
              <a:rPr lang="ja-JP" altLang="en-US"/>
              <a:t>「人と話す」メリットが自覚しづらい</a:t>
            </a:r>
            <a:endParaRPr lang="en-US" altLang="ja-JP" dirty="0"/>
          </a:p>
          <a:p>
            <a:endParaRPr kumimoji="1" lang="en-US" altLang="ja-JP" dirty="0"/>
          </a:p>
          <a:p>
            <a:pPr marL="0" indent="0">
              <a:buNone/>
            </a:pPr>
            <a:r>
              <a:rPr kumimoji="1" lang="ja-JP" altLang="en-US"/>
              <a:t>そのような手法ではなく</a:t>
            </a:r>
            <a:r>
              <a:rPr lang="ja-JP" altLang="en-US"/>
              <a:t>「人と話す」メリットを分かってもらった上で、自発的に</a:t>
            </a:r>
            <a:endParaRPr lang="en-US" altLang="ja-JP" dirty="0"/>
          </a:p>
          <a:p>
            <a:pPr marL="0" indent="0">
              <a:buNone/>
            </a:pPr>
            <a:r>
              <a:rPr kumimoji="1" lang="ja-JP" altLang="en-US"/>
              <a:t>研究室に来て欲しい</a:t>
            </a:r>
            <a:endParaRPr kumimoji="1" lang="en-US" altLang="ja-JP" dirty="0"/>
          </a:p>
          <a:p>
            <a:endParaRPr kumimoji="1" lang="en-US" altLang="ja-JP" dirty="0"/>
          </a:p>
          <a:p>
            <a:r>
              <a:rPr kumimoji="1" lang="ja-JP" altLang="en-US"/>
              <a:t>そこで、外発的動機を無理せず与える手法として「</a:t>
            </a:r>
            <a:r>
              <a:rPr lang="ja-JP" altLang="en-US"/>
              <a:t>ゲーミフィケーション</a:t>
            </a:r>
            <a:r>
              <a:rPr kumimoji="1" lang="ja-JP" altLang="en-US"/>
              <a:t>」と呼ばれる手法があります。</a:t>
            </a:r>
            <a:endParaRPr kumimoji="1" lang="en-US" altLang="ja-JP" dirty="0"/>
          </a:p>
          <a:p>
            <a:endParaRPr kumimoji="1" lang="en-US" altLang="ja-JP" dirty="0"/>
          </a:p>
          <a:p>
            <a:endParaRPr kumimoji="1" lang="en-US" altLang="ja-JP" dirty="0"/>
          </a:p>
          <a:p>
            <a:r>
              <a:rPr kumimoji="1" lang="ja-JP" altLang="en-US"/>
              <a:t>どんな課題に対して</a:t>
            </a:r>
            <a:endParaRPr kumimoji="1" lang="en-US" altLang="ja-JP" dirty="0"/>
          </a:p>
          <a:p>
            <a:r>
              <a:rPr kumimoji="1" lang="ja-JP" altLang="en-US"/>
              <a:t>どんな目標を定め</a:t>
            </a:r>
            <a:endParaRPr kumimoji="1" lang="en-US" altLang="ja-JP" dirty="0"/>
          </a:p>
          <a:p>
            <a:r>
              <a:rPr kumimoji="1" lang="ja-JP" altLang="en-US"/>
              <a:t>どんな手法で</a:t>
            </a:r>
            <a:endParaRPr kumimoji="1" lang="en-US" altLang="ja-JP" dirty="0"/>
          </a:p>
          <a:p>
            <a:r>
              <a:rPr kumimoji="1" lang="ja-JP" altLang="en-US"/>
              <a:t>何を達成したのか</a:t>
            </a:r>
            <a:endParaRPr kumimoji="1" lang="en-US" altLang="ja-JP" dirty="0"/>
          </a:p>
          <a:p>
            <a:endParaRPr kumimoji="1" lang="en-US" altLang="ja-JP" dirty="0"/>
          </a:p>
          <a:p>
            <a:r>
              <a:rPr kumimoji="1" lang="en-US" altLang="ja-JP" dirty="0"/>
              <a:t>3</a:t>
            </a:r>
            <a:r>
              <a:rPr kumimoji="1" lang="ja-JP" altLang="en-US"/>
              <a:t>枚目ぐらいまでにまとめろ</a:t>
            </a:r>
            <a:endParaRPr kumimoji="1" lang="en-US" altLang="ja-JP" dirty="0"/>
          </a:p>
          <a:p>
            <a:r>
              <a:rPr kumimoji="1" lang="ja-JP" altLang="en-US"/>
              <a:t>ただし、ゲーミフィケーションと呼ばれる手法がある。</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3</a:t>
            </a:fld>
            <a:endParaRPr kumimoji="1" lang="ja-JP" altLang="en-US"/>
          </a:p>
        </p:txBody>
      </p:sp>
    </p:spTree>
    <p:extLst>
      <p:ext uri="{BB962C8B-B14F-4D97-AF65-F5344CB8AC3E}">
        <p14:creationId xmlns:p14="http://schemas.microsoft.com/office/powerpoint/2010/main" val="1222495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ゲーミフィケーションとは、</a:t>
            </a:r>
            <a:r>
              <a:rPr lang="ja-JP" altLang="en-US"/>
              <a:t>ゲームで培われた人を熱中させる要素を、現実の行動に持ち込む</a:t>
            </a:r>
            <a:endParaRPr lang="en-US" altLang="ja-JP" dirty="0"/>
          </a:p>
          <a:p>
            <a:r>
              <a:rPr kumimoji="1" lang="ja-JP" altLang="en-US"/>
              <a:t>ことである</a:t>
            </a:r>
            <a:endParaRPr kumimoji="1" lang="en-US" altLang="ja-JP" dirty="0"/>
          </a:p>
          <a:p>
            <a:endParaRPr kumimoji="1" lang="en-US" altLang="ja-JP" dirty="0"/>
          </a:p>
          <a:p>
            <a:r>
              <a:rPr kumimoji="1" lang="ja-JP" altLang="en-US"/>
              <a:t>ゲーミフィケーションの先行研究の事例として「卒論ウォッチ」が挙げられる。</a:t>
            </a:r>
            <a:endParaRPr kumimoji="1" lang="en-US" altLang="ja-JP" dirty="0"/>
          </a:p>
          <a:p>
            <a:r>
              <a:rPr kumimoji="1" lang="ja-JP" altLang="en-US"/>
              <a:t>卒業論文の進捗</a:t>
            </a:r>
            <a:r>
              <a:rPr kumimoji="1" lang="en-US" altLang="ja-JP" dirty="0"/>
              <a:t>(</a:t>
            </a:r>
            <a:r>
              <a:rPr kumimoji="1" lang="ja-JP" altLang="en-US"/>
              <a:t>ページ数</a:t>
            </a:r>
            <a:r>
              <a:rPr kumimoji="1" lang="en-US" altLang="ja-JP" dirty="0"/>
              <a:t>)</a:t>
            </a:r>
            <a:r>
              <a:rPr kumimoji="1" lang="ja-JP" altLang="en-US"/>
              <a:t>を共有する</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卒論ウォッチでは、</a:t>
            </a:r>
            <a:r>
              <a:rPr lang="ja-JP" altLang="en-US"/>
              <a:t>「卒論を執筆する」ことに熱中させるために</a:t>
            </a:r>
            <a:endParaRPr kumimoji="1" lang="en-US" altLang="ja-JP" dirty="0"/>
          </a:p>
          <a:p>
            <a:r>
              <a:rPr kumimoji="1" lang="ja-JP" altLang="en-US"/>
              <a:t>ゲームの要素として進捗をランキング形式で公開した</a:t>
            </a:r>
            <a:endParaRPr kumimoji="1" lang="en-US" altLang="ja-JP" dirty="0"/>
          </a:p>
          <a:p>
            <a:endParaRPr kumimoji="1" lang="en-US" altLang="ja-JP" dirty="0"/>
          </a:p>
          <a:p>
            <a:r>
              <a:rPr kumimoji="1" lang="ja-JP" altLang="en-US"/>
              <a:t>これをすると皆「うわ、みんな卒論やってる</a:t>
            </a:r>
            <a:r>
              <a:rPr kumimoji="1" lang="en-US" altLang="ja-JP" dirty="0"/>
              <a:t>w</a:t>
            </a:r>
            <a:r>
              <a:rPr kumimoji="1" lang="ja-JP" altLang="en-US"/>
              <a:t>俺もやんなきゃ」と言う</a:t>
            </a:r>
            <a:endParaRPr kumimoji="1" lang="en-US" altLang="ja-JP" dirty="0"/>
          </a:p>
          <a:p>
            <a:r>
              <a:rPr kumimoji="1" lang="ja-JP" altLang="en-US"/>
              <a:t>卒論ウォッチをプレイしている人は最初はこのゲームのランキングによって得られる達成感から卒論を始めてゲームを進めているうちに</a:t>
            </a:r>
            <a:endParaRPr kumimoji="1" lang="en-US" altLang="ja-JP" dirty="0"/>
          </a:p>
          <a:p>
            <a:r>
              <a:rPr kumimoji="1" lang="ja-JP" altLang="en-US"/>
              <a:t>「卒論」の終わりが見えてきて</a:t>
            </a:r>
            <a:endParaRPr kumimoji="1" lang="en-US" altLang="ja-JP" dirty="0"/>
          </a:p>
          <a:p>
            <a:r>
              <a:rPr kumimoji="1" lang="ja-JP" altLang="en-US"/>
              <a:t>卒論を書くこと自体の動機も上がっていると言う体験をする。</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4</a:t>
            </a:fld>
            <a:endParaRPr kumimoji="1" lang="ja-JP" altLang="en-US"/>
          </a:p>
        </p:txBody>
      </p:sp>
    </p:spTree>
    <p:extLst>
      <p:ext uri="{BB962C8B-B14F-4D97-AF65-F5344CB8AC3E}">
        <p14:creationId xmlns:p14="http://schemas.microsoft.com/office/powerpoint/2010/main" val="1995139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ただし、このゲームは「卒論」と言う絶対に終わらせないといけないもの、</a:t>
            </a:r>
            <a:r>
              <a:rPr kumimoji="1" lang="en-US" altLang="ja-JP" dirty="0"/>
              <a:t>(</a:t>
            </a:r>
            <a:r>
              <a:rPr kumimoji="1" lang="ja-JP" altLang="en-US"/>
              <a:t>外発的動機</a:t>
            </a:r>
            <a:r>
              <a:rPr kumimoji="1" lang="en-US" altLang="ja-JP" dirty="0"/>
              <a:t>)</a:t>
            </a:r>
            <a:r>
              <a:rPr kumimoji="1" lang="ja-JP" altLang="en-US"/>
              <a:t>をゲーミフィケーションしている</a:t>
            </a:r>
            <a:endParaRPr kumimoji="1" lang="en-US" altLang="ja-JP" dirty="0"/>
          </a:p>
          <a:p>
            <a:r>
              <a:rPr kumimoji="1" lang="ja-JP" altLang="en-US"/>
              <a:t>早い話、卒論ウォッチがなくてもみんな卒論は書く。</a:t>
            </a:r>
            <a:endParaRPr kumimoji="1" lang="en-US" altLang="ja-JP" dirty="0"/>
          </a:p>
          <a:p>
            <a:endParaRPr kumimoji="1" lang="en-US" altLang="ja-JP" dirty="0"/>
          </a:p>
          <a:p>
            <a:r>
              <a:rPr kumimoji="1" lang="ja-JP" altLang="en-US"/>
              <a:t>別に「研究室に来る」ことは強制されていないため、</a:t>
            </a:r>
            <a:endParaRPr kumimoji="1" lang="en-US" altLang="ja-JP" dirty="0"/>
          </a:p>
          <a:p>
            <a:r>
              <a:rPr kumimoji="1" lang="ja-JP" altLang="en-US"/>
              <a:t>ただ単に「研究室に来ること」をゲームにしても誰も遊んでくれない、</a:t>
            </a:r>
            <a:endParaRPr kumimoji="1" lang="en-US" altLang="ja-JP" dirty="0"/>
          </a:p>
          <a:p>
            <a:endParaRPr kumimoji="1" lang="en-US" altLang="ja-JP" dirty="0"/>
          </a:p>
          <a:p>
            <a:endParaRPr kumimoji="1" lang="en-US" altLang="ja-JP" dirty="0"/>
          </a:p>
          <a:p>
            <a:r>
              <a:rPr kumimoji="1" lang="ja-JP" altLang="en-US"/>
              <a:t>この事例に似たことを今回の「研究室に来ること」に適応する場合、</a:t>
            </a:r>
            <a:endParaRPr kumimoji="1" lang="en-US" altLang="ja-JP" dirty="0"/>
          </a:p>
          <a:p>
            <a:pPr marL="0" indent="0">
              <a:buNone/>
            </a:pPr>
            <a:r>
              <a:rPr kumimoji="1" lang="ja-JP" altLang="en-US"/>
              <a:t>目的としては人と話をさせるメリットを理解してもらい、</a:t>
            </a:r>
            <a:r>
              <a:rPr lang="ja-JP" altLang="en-US"/>
              <a:t>研究室を盛り上げることが挙げられる</a:t>
            </a:r>
            <a:endParaRPr lang="en-US" altLang="ja-JP" dirty="0"/>
          </a:p>
          <a:p>
            <a:pPr marL="0" indent="0">
              <a:buNone/>
            </a:pPr>
            <a:endParaRPr lang="en-US" altLang="ja-JP" dirty="0"/>
          </a:p>
          <a:p>
            <a:r>
              <a:rPr kumimoji="1" lang="ja-JP" altLang="en-US"/>
              <a:t>その目的達成のためのゲーミフィケーション要素として、</a:t>
            </a:r>
            <a:r>
              <a:rPr kumimoji="1" lang="en-US" altLang="ja-JP" dirty="0"/>
              <a:t>2P</a:t>
            </a:r>
            <a:r>
              <a:rPr kumimoji="1" lang="ja-JP" altLang="en-US"/>
              <a:t>や</a:t>
            </a:r>
            <a:r>
              <a:rPr kumimoji="1" lang="en-US" altLang="ja-JP" dirty="0"/>
              <a:t>3P</a:t>
            </a:r>
            <a:r>
              <a:rPr kumimoji="1" lang="ja-JP" altLang="en-US"/>
              <a:t>ゲームにある「協力要素」がある</a:t>
            </a:r>
            <a:endParaRPr kumimoji="1" lang="en-US" altLang="ja-JP" dirty="0"/>
          </a:p>
          <a:p>
            <a:endParaRPr kumimoji="1" lang="en-US" altLang="ja-JP" dirty="0"/>
          </a:p>
          <a:p>
            <a:r>
              <a:rPr kumimoji="1" lang="ja-JP" altLang="en-US"/>
              <a:t>これはゲームを進める過程で、「人と話」をさせ「協力」させることを通じて、その有用性に気づいてもらう狙いがあります</a:t>
            </a:r>
            <a:endParaRPr kumimoji="1" lang="en-US" altLang="ja-JP" dirty="0"/>
          </a:p>
          <a:p>
            <a:endParaRPr kumimoji="1" lang="en-US" altLang="ja-JP" dirty="0"/>
          </a:p>
          <a:p>
            <a:r>
              <a:rPr kumimoji="1" lang="ja-JP" altLang="en-US"/>
              <a:t>その狙いを実現する「がわ」としてのゲームを考えた場合、</a:t>
            </a:r>
            <a:r>
              <a:rPr lang="ja-JP" altLang="en-US"/>
              <a:t>協力型のクイズゲームを実際に作ってしまおうと考えました。</a:t>
            </a:r>
            <a:endParaRPr kumimoji="1" lang="en-US" altLang="ja-JP" dirty="0"/>
          </a:p>
          <a:p>
            <a:endParaRPr kumimoji="1" lang="en-US" altLang="ja-JP" dirty="0"/>
          </a:p>
          <a:p>
            <a:endParaRPr kumimoji="1" lang="en-US" altLang="ja-JP" dirty="0"/>
          </a:p>
          <a:p>
            <a:endParaRPr kumimoji="1" lang="en-US" altLang="ja-JP" dirty="0"/>
          </a:p>
          <a:p>
            <a:r>
              <a:rPr kumimoji="1" lang="ja-JP" altLang="en-US"/>
              <a:t>ただし、このゲームは「卒論」と言う絶対に終わらせないといけないもの、</a:t>
            </a:r>
            <a:r>
              <a:rPr kumimoji="1" lang="en-US" altLang="ja-JP" dirty="0"/>
              <a:t>(</a:t>
            </a:r>
            <a:r>
              <a:rPr kumimoji="1" lang="ja-JP" altLang="en-US"/>
              <a:t>外発的動機</a:t>
            </a:r>
            <a:r>
              <a:rPr kumimoji="1" lang="en-US" altLang="ja-JP" dirty="0"/>
              <a:t>)</a:t>
            </a:r>
            <a:r>
              <a:rPr kumimoji="1" lang="ja-JP" altLang="en-US"/>
              <a:t>をゲーミフィケーションしている</a:t>
            </a:r>
            <a:endParaRPr kumimoji="1" lang="en-US" altLang="ja-JP" dirty="0"/>
          </a:p>
          <a:p>
            <a:r>
              <a:rPr kumimoji="1" lang="ja-JP" altLang="en-US"/>
              <a:t>早い話、卒論ウォッチがなくてもみんな卒論は書く。</a:t>
            </a:r>
            <a:endParaRPr kumimoji="1" lang="en-US" altLang="ja-JP" dirty="0"/>
          </a:p>
          <a:p>
            <a:endParaRPr kumimoji="1" lang="en-US" altLang="ja-JP" dirty="0"/>
          </a:p>
          <a:p>
            <a:r>
              <a:rPr kumimoji="1" lang="ja-JP" altLang="en-US"/>
              <a:t>別に「研究室に来る」ことは強制されていないため、</a:t>
            </a:r>
            <a:endParaRPr kumimoji="1" lang="en-US" altLang="ja-JP" dirty="0"/>
          </a:p>
          <a:p>
            <a:r>
              <a:rPr kumimoji="1" lang="ja-JP" altLang="en-US"/>
              <a:t>ただ単に「研究室に来ること」をゲームにしても誰も遊んでくれない、</a:t>
            </a:r>
            <a:endParaRPr kumimoji="1" lang="en-US" altLang="ja-JP" dirty="0"/>
          </a:p>
          <a:p>
            <a:r>
              <a:rPr kumimoji="1" lang="ja-JP" altLang="en-US"/>
              <a:t>「研究室に来ること」で得ることのできる「メリット」に着目し</a:t>
            </a:r>
            <a:endParaRPr kumimoji="1" lang="en-US" altLang="ja-JP" dirty="0"/>
          </a:p>
          <a:p>
            <a:r>
              <a:rPr kumimoji="1" lang="ja-JP" altLang="en-US"/>
              <a:t>これを育むべき、内発的動機としてゲームを考える必要がある</a:t>
            </a:r>
            <a:endParaRPr kumimoji="1" lang="en-US" altLang="ja-JP" dirty="0"/>
          </a:p>
          <a:p>
            <a:endParaRPr kumimoji="1" lang="en-US" altLang="ja-JP" dirty="0"/>
          </a:p>
          <a:p>
            <a:r>
              <a:rPr kumimoji="1" lang="ja-JP" altLang="en-US"/>
              <a:t>で、最初に話た「人と議論する」ことが今回のゲーミフィケーションのメリットとしてゲーミフィケーションを作る場合</a:t>
            </a:r>
            <a:endParaRPr kumimoji="1" lang="en-US" altLang="ja-JP" dirty="0"/>
          </a:p>
          <a:p>
            <a:r>
              <a:rPr kumimoji="1" lang="ja-JP" altLang="en-US"/>
              <a:t>「ゲーム」を通して、「人と議論」させて「研究室に来ると研究含めた色んな話ができるじゃーん」と思ってもらいたい。</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5</a:t>
            </a:fld>
            <a:endParaRPr kumimoji="1" lang="ja-JP" altLang="en-US"/>
          </a:p>
        </p:txBody>
      </p:sp>
    </p:spTree>
    <p:extLst>
      <p:ext uri="{BB962C8B-B14F-4D97-AF65-F5344CB8AC3E}">
        <p14:creationId xmlns:p14="http://schemas.microsoft.com/office/powerpoint/2010/main" val="375629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「人と話せる」ゲームを考えた場合「人が集まらないと解けない」クイズゲームを考えた</a:t>
            </a:r>
            <a:endParaRPr kumimoji="1" lang="en-US" altLang="ja-JP" dirty="0"/>
          </a:p>
          <a:p>
            <a:r>
              <a:rPr kumimoji="1" lang="ja-JP" altLang="en-US"/>
              <a:t>ルールを説明するとゲームマスターが適当なクイズを考えて、これを分割する</a:t>
            </a:r>
            <a:endParaRPr kumimoji="1" lang="en-US" altLang="ja-JP" dirty="0"/>
          </a:p>
          <a:p>
            <a:endParaRPr kumimoji="1" lang="en-US" altLang="ja-JP" dirty="0"/>
          </a:p>
          <a:p>
            <a:r>
              <a:rPr kumimoji="1" lang="ja-JP" altLang="en-US"/>
              <a:t>例えばプレイヤーが</a:t>
            </a:r>
            <a:r>
              <a:rPr kumimoji="1" lang="en-US" altLang="ja-JP" dirty="0"/>
              <a:t>3</a:t>
            </a:r>
            <a:r>
              <a:rPr kumimoji="1" lang="ja-JP" altLang="en-US"/>
              <a:t>人で「世界一高い山は？」と言う問題文があったとすると</a:t>
            </a:r>
            <a:endParaRPr kumimoji="1" lang="en-US" altLang="ja-JP" dirty="0"/>
          </a:p>
          <a:p>
            <a:r>
              <a:rPr kumimoji="1" lang="ja-JP" altLang="en-US"/>
              <a:t>「世界」「一高」「い山」「は？」となる</a:t>
            </a:r>
            <a:endParaRPr kumimoji="1" lang="en-US" altLang="ja-JP" dirty="0"/>
          </a:p>
          <a:p>
            <a:endParaRPr kumimoji="1" lang="en-US" altLang="ja-JP" dirty="0"/>
          </a:p>
          <a:p>
            <a:r>
              <a:rPr kumimoji="1" lang="ja-JP" altLang="en-US"/>
              <a:t>あれ、</a:t>
            </a:r>
            <a:r>
              <a:rPr kumimoji="1" lang="en-US" altLang="ja-JP" dirty="0"/>
              <a:t>3</a:t>
            </a:r>
            <a:r>
              <a:rPr kumimoji="1" lang="ja-JP" altLang="en-US"/>
              <a:t>人なのに、なんで</a:t>
            </a:r>
            <a:r>
              <a:rPr kumimoji="1" lang="en-US" altLang="ja-JP" dirty="0"/>
              <a:t>4</a:t>
            </a:r>
            <a:r>
              <a:rPr kumimoji="1" lang="ja-JP" altLang="en-US"/>
              <a:t>分割してるんだ？</a:t>
            </a:r>
            <a:endParaRPr kumimoji="1" lang="en-US" altLang="ja-JP" dirty="0"/>
          </a:p>
          <a:p>
            <a:r>
              <a:rPr kumimoji="1" lang="ja-JP" altLang="en-US"/>
              <a:t>実はプレイヤーの一人は上野先生が入ってるんです！</a:t>
            </a:r>
            <a:endParaRPr kumimoji="1" lang="en-US" altLang="ja-JP" dirty="0"/>
          </a:p>
          <a:p>
            <a:r>
              <a:rPr kumimoji="1" lang="ja-JP" altLang="en-US"/>
              <a:t>これでズルはできませんねえ</a:t>
            </a:r>
            <a:endParaRPr kumimoji="1" lang="en-US" altLang="ja-JP" dirty="0"/>
          </a:p>
          <a:p>
            <a:endParaRPr kumimoji="1" lang="en-US" altLang="ja-JP" dirty="0"/>
          </a:p>
          <a:p>
            <a:r>
              <a:rPr kumimoji="1" lang="ja-JP" altLang="en-US"/>
              <a:t>各プレイヤーはこれらの分割された問題を持ち寄って問題文を完成させて、一緒に一つのクイズに取り組む</a:t>
            </a:r>
            <a:endParaRPr kumimoji="1" lang="en-US" altLang="ja-JP" dirty="0"/>
          </a:p>
          <a:p>
            <a:endParaRPr kumimoji="1" lang="en-US" altLang="ja-JP" dirty="0"/>
          </a:p>
          <a:p>
            <a:r>
              <a:rPr kumimoji="1" lang="ja-JP" altLang="en-US"/>
              <a:t>このゲームは集まらないと先に進めないゲームであり、集まって話をさせることで</a:t>
            </a:r>
            <a:endParaRPr kumimoji="1" lang="en-US" altLang="ja-JP" dirty="0"/>
          </a:p>
          <a:p>
            <a:r>
              <a:rPr kumimoji="1" lang="ja-JP" altLang="en-US"/>
              <a:t>「研究室に来ると話ができる」と言うメリットを学生に知ってもらう</a:t>
            </a:r>
            <a:endParaRPr kumimoji="1" lang="en-US" altLang="ja-JP" dirty="0"/>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6</a:t>
            </a:fld>
            <a:endParaRPr kumimoji="1" lang="ja-JP" altLang="en-US"/>
          </a:p>
        </p:txBody>
      </p:sp>
    </p:spTree>
    <p:extLst>
      <p:ext uri="{BB962C8B-B14F-4D97-AF65-F5344CB8AC3E}">
        <p14:creationId xmlns:p14="http://schemas.microsoft.com/office/powerpoint/2010/main" val="1407277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UenoQuest</a:t>
            </a:r>
            <a:r>
              <a:rPr kumimoji="1" lang="ja-JP" altLang="en-US"/>
              <a:t>を</a:t>
            </a:r>
            <a:r>
              <a:rPr kumimoji="1" lang="en-US" altLang="ja-JP" dirty="0"/>
              <a:t>Discord</a:t>
            </a:r>
            <a:r>
              <a:rPr kumimoji="1" lang="ja-JP" altLang="en-US"/>
              <a:t>と呼ばれるグループチャットアプリの</a:t>
            </a:r>
            <a:r>
              <a:rPr kumimoji="1" lang="en-US" altLang="ja-JP" dirty="0"/>
              <a:t>bot</a:t>
            </a:r>
            <a:r>
              <a:rPr kumimoji="1" lang="ja-JP" altLang="en-US"/>
              <a:t>機能を用いて実装した</a:t>
            </a:r>
            <a:endParaRPr kumimoji="1" lang="en-US" altLang="ja-JP" dirty="0"/>
          </a:p>
          <a:p>
            <a:endParaRPr kumimoji="1" lang="en-US" altLang="ja-JP" dirty="0"/>
          </a:p>
          <a:p>
            <a:r>
              <a:rPr kumimoji="1" lang="en-US" altLang="ja-JP" dirty="0"/>
              <a:t>bot</a:t>
            </a:r>
            <a:r>
              <a:rPr kumimoji="1" lang="ja-JP" altLang="en-US"/>
              <a:t>を交えたゲームの流れとしては、右の図にある通り</a:t>
            </a:r>
            <a:endParaRPr kumimoji="1" lang="en-US" altLang="ja-JP" dirty="0"/>
          </a:p>
          <a:p>
            <a:r>
              <a:rPr kumimoji="1" lang="ja-JP" altLang="en-US"/>
              <a:t>ゲーム参加者は</a:t>
            </a:r>
            <a:r>
              <a:rPr kumimoji="1" lang="en-US" altLang="ja-JP" dirty="0"/>
              <a:t>Discord </a:t>
            </a:r>
            <a:r>
              <a:rPr kumimoji="1" lang="ja-JP" altLang="en-US"/>
              <a:t>アカウントを作り、ゲームに参加すると、</a:t>
            </a:r>
            <a:endParaRPr kumimoji="1" lang="en-US" altLang="ja-JP" dirty="0"/>
          </a:p>
          <a:p>
            <a:r>
              <a:rPr kumimoji="1" lang="en-US" altLang="ja-JP" dirty="0"/>
              <a:t>1</a:t>
            </a:r>
            <a:r>
              <a:rPr kumimoji="1" lang="ja-JP" altLang="en-US"/>
              <a:t>日に一回</a:t>
            </a:r>
            <a:r>
              <a:rPr kumimoji="1" lang="en-US" altLang="ja-JP" dirty="0"/>
              <a:t>bot</a:t>
            </a:r>
            <a:r>
              <a:rPr kumimoji="1" lang="ja-JP" altLang="en-US"/>
              <a:t>から問題文の</a:t>
            </a:r>
            <a:r>
              <a:rPr kumimoji="1" lang="en-US" altLang="ja-JP" dirty="0"/>
              <a:t>DM</a:t>
            </a:r>
            <a:r>
              <a:rPr kumimoji="1" lang="ja-JP" altLang="en-US"/>
              <a:t>が送られてきて、これに対し他の人と話し合ってでた答えをコマンドを使って答える</a:t>
            </a:r>
            <a:endParaRPr kumimoji="1" lang="en-US" altLang="ja-JP" dirty="0"/>
          </a:p>
          <a:p>
            <a:r>
              <a:rPr kumimoji="1" lang="ja-JP" altLang="en-US"/>
              <a:t>するとその正否を</a:t>
            </a:r>
            <a:r>
              <a:rPr kumimoji="1" lang="en-US" altLang="ja-JP" dirty="0"/>
              <a:t>discord bot</a:t>
            </a:r>
            <a:r>
              <a:rPr kumimoji="1" lang="ja-JP" altLang="en-US"/>
              <a:t>が答えてくれると言ったものになっています</a:t>
            </a:r>
            <a:endParaRPr kumimoji="1" lang="en-US" altLang="ja-JP" dirty="0"/>
          </a:p>
          <a:p>
            <a:endParaRPr kumimoji="1" lang="en-US" altLang="ja-JP" dirty="0"/>
          </a:p>
          <a:p>
            <a:r>
              <a:rPr kumimoji="1" lang="en-US" altLang="ja-JP" dirty="0" err="1"/>
              <a:t>Disocrd</a:t>
            </a:r>
            <a:r>
              <a:rPr kumimoji="1" lang="en-US" altLang="ja-JP" dirty="0"/>
              <a:t> bot</a:t>
            </a:r>
            <a:r>
              <a:rPr kumimoji="1" lang="ja-JP" altLang="en-US"/>
              <a:t>の機能としては</a:t>
            </a:r>
            <a:endParaRPr kumimoji="1" lang="en-US" altLang="ja-JP" dirty="0"/>
          </a:p>
          <a:p>
            <a:r>
              <a:rPr kumimoji="1" lang="en-US" altLang="ja-JP" dirty="0" err="1"/>
              <a:t>ChatGPT</a:t>
            </a:r>
            <a:r>
              <a:rPr kumimoji="1" lang="ja-JP" altLang="en-US"/>
              <a:t>を用いた問題の生成及び問題の分割要素</a:t>
            </a:r>
            <a:endParaRPr kumimoji="1" lang="en-US" altLang="ja-JP" dirty="0"/>
          </a:p>
          <a:p>
            <a:r>
              <a:rPr kumimoji="1" lang="ja-JP" altLang="en-US"/>
              <a:t>解答及び正否の判定機能があります</a:t>
            </a:r>
            <a:endParaRPr kumimoji="1" lang="en-US" altLang="ja-JP" dirty="0"/>
          </a:p>
          <a:p>
            <a:endParaRPr kumimoji="1" lang="en-US" altLang="ja-JP" dirty="0"/>
          </a:p>
          <a:p>
            <a:r>
              <a:rPr kumimoji="1" lang="ja-JP" altLang="en-US"/>
              <a:t>これらを</a:t>
            </a:r>
            <a:r>
              <a:rPr kumimoji="1" lang="en-US" altLang="ja-JP" dirty="0"/>
              <a:t>Python</a:t>
            </a:r>
            <a:r>
              <a:rPr kumimoji="1" lang="ja-JP" altLang="en-US"/>
              <a:t>にて実装し、現時点で運用中です。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7</a:t>
            </a:fld>
            <a:endParaRPr kumimoji="1" lang="ja-JP" altLang="en-US"/>
          </a:p>
        </p:txBody>
      </p:sp>
    </p:spTree>
    <p:extLst>
      <p:ext uri="{BB962C8B-B14F-4D97-AF65-F5344CB8AC3E}">
        <p14:creationId xmlns:p14="http://schemas.microsoft.com/office/powerpoint/2010/main" val="2422123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8</a:t>
            </a:fld>
            <a:endParaRPr kumimoji="1" lang="ja-JP" altLang="en-US"/>
          </a:p>
        </p:txBody>
      </p:sp>
    </p:spTree>
    <p:extLst>
      <p:ext uri="{BB962C8B-B14F-4D97-AF65-F5344CB8AC3E}">
        <p14:creationId xmlns:p14="http://schemas.microsoft.com/office/powerpoint/2010/main" val="1573532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「卒論ウォッチ」では</a:t>
            </a:r>
            <a:r>
              <a:rPr kumimoji="1" lang="en-US" altLang="ja-JP" dirty="0"/>
              <a:t>Google  spread sheet</a:t>
            </a:r>
            <a:r>
              <a:rPr kumimoji="1" lang="ja-JP" altLang="en-US"/>
              <a:t>と</a:t>
            </a:r>
            <a:r>
              <a:rPr kumimoji="1" lang="en-US" altLang="ja-JP" dirty="0"/>
              <a:t>twitter</a:t>
            </a:r>
            <a:r>
              <a:rPr kumimoji="1" lang="ja-JP" altLang="en-US"/>
              <a:t>を使用していたが、</a:t>
            </a:r>
            <a:endParaRPr kumimoji="1" lang="en-US" altLang="ja-JP" dirty="0"/>
          </a:p>
          <a:p>
            <a:r>
              <a:rPr kumimoji="1" lang="ja-JP" altLang="en-US"/>
              <a:t>今の時代もっと使いやすいものがある</a:t>
            </a:r>
            <a:endParaRPr kumimoji="1" lang="en-US" altLang="ja-JP" dirty="0"/>
          </a:p>
          <a:p>
            <a:r>
              <a:rPr kumimoji="1" lang="ja-JP" altLang="en-US"/>
              <a:t>と言うことで</a:t>
            </a:r>
            <a:r>
              <a:rPr kumimoji="1" lang="en-US" altLang="ja-JP" dirty="0"/>
              <a:t>Discord</a:t>
            </a:r>
            <a:r>
              <a:rPr kumimoji="1" lang="ja-JP" altLang="en-US"/>
              <a:t>と呼ばれるグループチャットアプリを使った</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Discord</a:t>
            </a:r>
            <a:r>
              <a:rPr kumimoji="1" lang="ja-JP" altLang="en-US"/>
              <a:t>は普通にチャットアプリとして使うこともできるが、</a:t>
            </a:r>
            <a:r>
              <a:rPr kumimoji="1" lang="en-US" altLang="ja-JP" dirty="0"/>
              <a:t>bot</a:t>
            </a:r>
            <a:r>
              <a:rPr kumimoji="1" lang="ja-JP" altLang="en-US"/>
              <a:t>を用いることでゲームを作れる</a:t>
            </a:r>
            <a:endParaRPr kumimoji="1" lang="en-US" altLang="ja-JP" dirty="0"/>
          </a:p>
          <a:p>
            <a:r>
              <a:rPr kumimoji="1" lang="en-US" altLang="ja-JP" dirty="0"/>
              <a:t>bot</a:t>
            </a:r>
            <a:r>
              <a:rPr kumimoji="1" lang="ja-JP" altLang="en-US"/>
              <a:t>作成に使用した言語は</a:t>
            </a:r>
            <a:r>
              <a:rPr kumimoji="1" lang="en-US" altLang="ja-JP" dirty="0"/>
              <a:t>python</a:t>
            </a:r>
            <a:r>
              <a:rPr kumimoji="1" lang="ja-JP" altLang="en-US"/>
              <a:t>で公式が配布している</a:t>
            </a:r>
            <a:r>
              <a:rPr kumimoji="1" lang="en-US" altLang="ja-JP" dirty="0"/>
              <a:t>python</a:t>
            </a:r>
            <a:r>
              <a:rPr kumimoji="1" lang="ja-JP" altLang="en-US"/>
              <a:t>ライブラリを用いた</a:t>
            </a:r>
            <a:endParaRPr kumimoji="1" lang="en-US" altLang="ja-JP" dirty="0"/>
          </a:p>
          <a:p>
            <a:endParaRPr kumimoji="1" lang="en-US" altLang="ja-JP" dirty="0"/>
          </a:p>
          <a:p>
            <a:r>
              <a:rPr kumimoji="1" lang="ja-JP" altLang="en-US"/>
              <a:t>機能としては</a:t>
            </a:r>
            <a:endParaRPr kumimoji="1" lang="en-US" altLang="ja-JP" dirty="0"/>
          </a:p>
          <a:p>
            <a:r>
              <a:rPr kumimoji="1" lang="ja-JP" altLang="en-US"/>
              <a:t>ゲーム参加者は</a:t>
            </a:r>
            <a:r>
              <a:rPr kumimoji="1" lang="en-US" altLang="ja-JP" dirty="0"/>
              <a:t>Discord </a:t>
            </a:r>
            <a:r>
              <a:rPr kumimoji="1" lang="ja-JP" altLang="en-US"/>
              <a:t>アカウントを作り、ゲームに参加します</a:t>
            </a:r>
            <a:endParaRPr kumimoji="1" lang="en-US" altLang="ja-JP" dirty="0"/>
          </a:p>
          <a:p>
            <a:r>
              <a:rPr kumimoji="1" lang="en-US" altLang="ja-JP" dirty="0"/>
              <a:t>1</a:t>
            </a:r>
            <a:r>
              <a:rPr kumimoji="1" lang="ja-JP" altLang="en-US"/>
              <a:t>日に一回</a:t>
            </a:r>
            <a:r>
              <a:rPr kumimoji="1" lang="en-US" altLang="ja-JP" dirty="0"/>
              <a:t>bot</a:t>
            </a:r>
            <a:r>
              <a:rPr kumimoji="1" lang="ja-JP" altLang="en-US"/>
              <a:t>から問題文の</a:t>
            </a:r>
            <a:r>
              <a:rPr kumimoji="1" lang="en-US" altLang="ja-JP" dirty="0"/>
              <a:t>DM</a:t>
            </a:r>
            <a:r>
              <a:rPr kumimoji="1" lang="ja-JP" altLang="en-US"/>
              <a:t>が送られてきて、これに対し他の人と話し合ってでた答えをコマンドを使って答える</a:t>
            </a:r>
            <a:endParaRPr kumimoji="1" lang="en-US" altLang="ja-JP" dirty="0"/>
          </a:p>
          <a:p>
            <a:endParaRPr kumimoji="1" lang="en-US" altLang="ja-JP" dirty="0"/>
          </a:p>
          <a:p>
            <a:endParaRPr kumimoji="1" lang="en-US" altLang="ja-JP" dirty="0"/>
          </a:p>
          <a:p>
            <a:r>
              <a:rPr kumimoji="1" lang="en-US" altLang="ja-JP" dirty="0"/>
              <a:t>Discord</a:t>
            </a:r>
            <a:r>
              <a:rPr kumimoji="1" lang="ja-JP" altLang="en-US"/>
              <a:t>を使用した理由はスマホからでもアクセスできるからユーザーの利便性が良いことと</a:t>
            </a:r>
            <a:endParaRPr kumimoji="1" lang="en-US" altLang="ja-JP" dirty="0"/>
          </a:p>
          <a:p>
            <a:r>
              <a:rPr kumimoji="1" lang="en-US" altLang="ja-JP" dirty="0"/>
              <a:t>bot</a:t>
            </a:r>
            <a:r>
              <a:rPr kumimoji="1" lang="ja-JP" altLang="en-US"/>
              <a:t>を構築する際に使う</a:t>
            </a:r>
            <a:r>
              <a:rPr kumimoji="1" lang="en-US" altLang="ja-JP" dirty="0"/>
              <a:t>python</a:t>
            </a:r>
            <a:r>
              <a:rPr kumimoji="1" lang="ja-JP" altLang="en-US"/>
              <a:t>のライブラリが個人的に使いやすかったから</a:t>
            </a:r>
          </a:p>
        </p:txBody>
      </p:sp>
      <p:sp>
        <p:nvSpPr>
          <p:cNvPr id="4" name="スライド番号プレースホルダー 3"/>
          <p:cNvSpPr>
            <a:spLocks noGrp="1"/>
          </p:cNvSpPr>
          <p:nvPr>
            <p:ph type="sldNum" sz="quarter" idx="5"/>
          </p:nvPr>
        </p:nvSpPr>
        <p:spPr/>
        <p:txBody>
          <a:bodyPr/>
          <a:lstStyle/>
          <a:p>
            <a:fld id="{17D2189F-3B9E-9043-ADA1-E3901027A190}" type="slidenum">
              <a:rPr kumimoji="1" lang="ja-JP" altLang="en-US" smtClean="0"/>
              <a:t>10</a:t>
            </a:fld>
            <a:endParaRPr kumimoji="1" lang="ja-JP" altLang="en-US"/>
          </a:p>
        </p:txBody>
      </p:sp>
    </p:spTree>
    <p:extLst>
      <p:ext uri="{BB962C8B-B14F-4D97-AF65-F5344CB8AC3E}">
        <p14:creationId xmlns:p14="http://schemas.microsoft.com/office/powerpoint/2010/main" val="380024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C5CF57-F46C-91D9-127D-9537CD1E3C7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84288CA-6330-5D68-7130-E4A61AD7E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F436DAA-C732-CAF7-A7DE-B89D43F11209}"/>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5" name="フッター プレースホルダー 4">
            <a:extLst>
              <a:ext uri="{FF2B5EF4-FFF2-40B4-BE49-F238E27FC236}">
                <a16:creationId xmlns:a16="http://schemas.microsoft.com/office/drawing/2014/main" id="{407342A9-FBB8-F92B-840A-9C44FDF66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EA061FE-E287-9302-B32E-98E60138EA32}"/>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3712954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0F4DDD-6BDB-5D46-B46A-59335D91B31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BBAFC5A-9A36-3E5B-D8C4-F9C13C9FD9C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FE0A2DD-2974-A1ED-F511-2933BFC2DF74}"/>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5" name="フッター プレースホルダー 4">
            <a:extLst>
              <a:ext uri="{FF2B5EF4-FFF2-40B4-BE49-F238E27FC236}">
                <a16:creationId xmlns:a16="http://schemas.microsoft.com/office/drawing/2014/main" id="{9E33F990-0A6E-8364-817C-E0C25BF161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EA19BC6-FFCD-1A71-0DAC-57F73D01480D}"/>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5175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37044-6817-3525-ACBF-91F0903D729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723297F-D745-77BD-B556-F2E8FD7FBE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5AC5079-E688-BD1C-8385-07B451B99ABC}"/>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5" name="フッター プレースホルダー 4">
            <a:extLst>
              <a:ext uri="{FF2B5EF4-FFF2-40B4-BE49-F238E27FC236}">
                <a16:creationId xmlns:a16="http://schemas.microsoft.com/office/drawing/2014/main" id="{FACD7BBB-2EAC-9C45-00F6-D40DD2CA271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9963DE-296F-7CAC-6D32-06685C903E6D}"/>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3048249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D329F9-4489-7C0F-925E-05CC028F7B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D0598F7-BA6A-D2F3-B854-8058FCAB6B1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901BA73-0D9C-BD24-E677-52C43399198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B7B28BA-9766-1F0A-1F04-C9B24F9D62AA}"/>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6" name="フッター プレースホルダー 5">
            <a:extLst>
              <a:ext uri="{FF2B5EF4-FFF2-40B4-BE49-F238E27FC236}">
                <a16:creationId xmlns:a16="http://schemas.microsoft.com/office/drawing/2014/main" id="{581AAD37-C5D5-220C-567A-B9B29574329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C2D64E6-E36B-B89F-2F49-F1B5F3EAF528}"/>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4290647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513C29-673E-9437-2B21-85CA090E896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5D598CB-F15C-5472-CBF3-FD561AFF6B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AB469D4-21E0-DBBE-6D67-719CD78D942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3B6C764-28A6-3567-32C9-682564B2B6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C48570-156D-CBFB-566F-D02D3738D88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CC9EEF4-C24E-4843-2DD6-BB700B0A4BF4}"/>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8" name="フッター プレースホルダー 7">
            <a:extLst>
              <a:ext uri="{FF2B5EF4-FFF2-40B4-BE49-F238E27FC236}">
                <a16:creationId xmlns:a16="http://schemas.microsoft.com/office/drawing/2014/main" id="{DD205BAA-4B18-5775-2E56-A4ED8687948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80955B1-7737-5085-8261-69597D39D5A1}"/>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150503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A8BE41-8542-8B52-A971-A890976E6B1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FC2734A-7604-320D-C87A-1422828321B8}"/>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4" name="フッター プレースホルダー 3">
            <a:extLst>
              <a:ext uri="{FF2B5EF4-FFF2-40B4-BE49-F238E27FC236}">
                <a16:creationId xmlns:a16="http://schemas.microsoft.com/office/drawing/2014/main" id="{BAA1BB4D-40E2-62F0-E13A-DCCE2FFAC59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BD71D7-C7B0-1609-EC4F-BCDD052C1998}"/>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1582844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D5DFD9D-7815-E9FB-85F9-D577E641649A}"/>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3" name="フッター プレースホルダー 2">
            <a:extLst>
              <a:ext uri="{FF2B5EF4-FFF2-40B4-BE49-F238E27FC236}">
                <a16:creationId xmlns:a16="http://schemas.microsoft.com/office/drawing/2014/main" id="{CF0DE6C7-3170-9AD5-C780-557086CE98A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21C0042-F5E4-8525-3A51-03808361D914}"/>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464077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B32FDC-A0A6-8072-635F-EAAB59D01FD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5C02DD3-D912-BA76-4311-E6DB1CBF86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43F7CA8-4C23-D7D9-6070-C181FDA24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53C3476-554C-957A-893A-A28E2A1FE496}"/>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6" name="フッター プレースホルダー 5">
            <a:extLst>
              <a:ext uri="{FF2B5EF4-FFF2-40B4-BE49-F238E27FC236}">
                <a16:creationId xmlns:a16="http://schemas.microsoft.com/office/drawing/2014/main" id="{067FBC3C-DF63-1EC5-5D7B-9D3599456B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7291DE4-AD1F-768D-C7CC-E11C36CEFF43}"/>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335629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728392-A4A0-D372-FAB5-F24D9B8EAD0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010565-B845-3877-BB9B-748A472F74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DC75E59-12C5-ED63-3DD4-445EDF919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B4F199B-604C-CED1-9EA5-FE02E68174AE}"/>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6" name="フッター プレースホルダー 5">
            <a:extLst>
              <a:ext uri="{FF2B5EF4-FFF2-40B4-BE49-F238E27FC236}">
                <a16:creationId xmlns:a16="http://schemas.microsoft.com/office/drawing/2014/main" id="{E6594E57-C520-F4BE-CCB9-8ADBE0E9B03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23ECA8D-6DEA-3C25-91A1-C9BC992E8114}"/>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3382629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0A9E96-3D4C-63CD-22FC-92F7A32127A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6634515-2D99-6EE8-C1E4-616E54352B8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76741B-C545-2BE3-32A0-E8C97D495DA4}"/>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5" name="フッター プレースホルダー 4">
            <a:extLst>
              <a:ext uri="{FF2B5EF4-FFF2-40B4-BE49-F238E27FC236}">
                <a16:creationId xmlns:a16="http://schemas.microsoft.com/office/drawing/2014/main" id="{8044E9F2-7FFC-81EB-71F3-957DD88BE7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DF9D347-59D6-9D5C-A0B6-DD86179616AF}"/>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2861576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27277DD-0050-F511-AD30-4ABE8D40988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5F90292-B7D6-2B9E-F645-C6C9D6B9D51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368B0BB-0E44-2415-2B96-B2ACBAB03412}"/>
              </a:ext>
            </a:extLst>
          </p:cNvPr>
          <p:cNvSpPr>
            <a:spLocks noGrp="1"/>
          </p:cNvSpPr>
          <p:nvPr>
            <p:ph type="dt" sz="half" idx="10"/>
          </p:nvPr>
        </p:nvSpPr>
        <p:spPr/>
        <p:txBody>
          <a:bodyPr/>
          <a:lstStyle/>
          <a:p>
            <a:fld id="{3C8B188A-7ACF-624B-AA40-9A0CF1363B75}" type="datetimeFigureOut">
              <a:rPr kumimoji="1" lang="ja-JP" altLang="en-US" smtClean="0"/>
              <a:t>2025/2/8</a:t>
            </a:fld>
            <a:endParaRPr kumimoji="1" lang="ja-JP" altLang="en-US"/>
          </a:p>
        </p:txBody>
      </p:sp>
      <p:sp>
        <p:nvSpPr>
          <p:cNvPr id="5" name="フッター プレースホルダー 4">
            <a:extLst>
              <a:ext uri="{FF2B5EF4-FFF2-40B4-BE49-F238E27FC236}">
                <a16:creationId xmlns:a16="http://schemas.microsoft.com/office/drawing/2014/main" id="{C9FE59F9-2C85-0963-761B-EB6BC9140C4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2543213-09B1-FD4D-4F8E-F7D7D5F1CBEB}"/>
              </a:ext>
            </a:extLst>
          </p:cNvPr>
          <p:cNvSpPr>
            <a:spLocks noGrp="1"/>
          </p:cNvSpPr>
          <p:nvPr>
            <p:ph type="sldNum" sz="quarter" idx="12"/>
          </p:nvPr>
        </p:nvSpPr>
        <p:spPr/>
        <p:txBody>
          <a:body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1546287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E659225-CB2E-6AAE-74A0-4F965E0A4A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F8936A5-AFFA-5430-7D40-05045A34B1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674A78A-BFE4-D638-96C6-D3AE0013F8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8B188A-7ACF-624B-AA40-9A0CF1363B75}" type="datetimeFigureOut">
              <a:rPr kumimoji="1" lang="ja-JP" altLang="en-US" smtClean="0"/>
              <a:t>2025/2/8</a:t>
            </a:fld>
            <a:endParaRPr kumimoji="1" lang="ja-JP" altLang="en-US"/>
          </a:p>
        </p:txBody>
      </p:sp>
      <p:sp>
        <p:nvSpPr>
          <p:cNvPr id="5" name="フッター プレースホルダー 4">
            <a:extLst>
              <a:ext uri="{FF2B5EF4-FFF2-40B4-BE49-F238E27FC236}">
                <a16:creationId xmlns:a16="http://schemas.microsoft.com/office/drawing/2014/main" id="{A854E662-8410-695F-C21A-CB2E7A48F7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E4DBF59-7216-CDDA-24AA-353A05F5FA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9B85F-833F-214D-B118-A210E7DD0A43}" type="slidenum">
              <a:rPr kumimoji="1" lang="ja-JP" altLang="en-US" smtClean="0"/>
              <a:t>‹#›</a:t>
            </a:fld>
            <a:endParaRPr kumimoji="1" lang="ja-JP" altLang="en-US"/>
          </a:p>
        </p:txBody>
      </p:sp>
    </p:spTree>
    <p:extLst>
      <p:ext uri="{BB962C8B-B14F-4D97-AF65-F5344CB8AC3E}">
        <p14:creationId xmlns:p14="http://schemas.microsoft.com/office/powerpoint/2010/main" val="4204886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C0E708-BB7F-EA13-DEC7-28E7CDA2EF42}"/>
              </a:ext>
            </a:extLst>
          </p:cNvPr>
          <p:cNvSpPr>
            <a:spLocks noGrp="1"/>
          </p:cNvSpPr>
          <p:nvPr>
            <p:ph type="ctrTitle"/>
          </p:nvPr>
        </p:nvSpPr>
        <p:spPr>
          <a:xfrm>
            <a:off x="762000" y="609600"/>
            <a:ext cx="10668000" cy="2910873"/>
          </a:xfrm>
        </p:spPr>
        <p:txBody>
          <a:bodyPr>
            <a:normAutofit/>
          </a:bodyPr>
          <a:lstStyle/>
          <a:p>
            <a:r>
              <a:rPr lang="ja-JP" altLang="en-US"/>
              <a:t>「研究室に来ること」への</a:t>
            </a:r>
            <a:br>
              <a:rPr lang="en-US" altLang="ja-JP" dirty="0"/>
            </a:br>
            <a:r>
              <a:rPr lang="ja-JP" altLang="en-US"/>
              <a:t>ゲーミフィケーションの</a:t>
            </a:r>
            <a:r>
              <a:rPr kumimoji="1" lang="ja-JP" altLang="en-US"/>
              <a:t>適用</a:t>
            </a:r>
          </a:p>
        </p:txBody>
      </p:sp>
      <p:sp>
        <p:nvSpPr>
          <p:cNvPr id="5" name="字幕 4">
            <a:extLst>
              <a:ext uri="{FF2B5EF4-FFF2-40B4-BE49-F238E27FC236}">
                <a16:creationId xmlns:a16="http://schemas.microsoft.com/office/drawing/2014/main" id="{E97E1B53-CF0C-606E-041D-7D1441007597}"/>
              </a:ext>
            </a:extLst>
          </p:cNvPr>
          <p:cNvSpPr>
            <a:spLocks noGrp="1"/>
          </p:cNvSpPr>
          <p:nvPr>
            <p:ph type="subTitle" idx="1"/>
          </p:nvPr>
        </p:nvSpPr>
        <p:spPr/>
        <p:txBody>
          <a:bodyPr>
            <a:normAutofit fontScale="77500" lnSpcReduction="20000"/>
          </a:bodyPr>
          <a:lstStyle/>
          <a:p>
            <a:r>
              <a:rPr lang="en-US" altLang="ja-JP" dirty="0"/>
              <a:t>T22B920D</a:t>
            </a:r>
            <a:r>
              <a:rPr lang="ja-JP" altLang="en-US"/>
              <a:t>　村井一彬</a:t>
            </a:r>
            <a:endParaRPr lang="en-US" altLang="ja-JP" dirty="0"/>
          </a:p>
          <a:p>
            <a:r>
              <a:rPr lang="ja-JP" altLang="en-US"/>
              <a:t>指導教員　上野雄大准教授</a:t>
            </a:r>
            <a:endParaRPr lang="en-US" altLang="ja-JP" dirty="0"/>
          </a:p>
          <a:p>
            <a:r>
              <a:rPr lang="en-US" altLang="ja-JP" dirty="0"/>
              <a:t>2024</a:t>
            </a:r>
            <a:r>
              <a:rPr lang="ja-JP" altLang="en-US"/>
              <a:t>年</a:t>
            </a:r>
            <a:r>
              <a:rPr lang="en-US" altLang="ja-JP" dirty="0"/>
              <a:t>2</a:t>
            </a:r>
            <a:r>
              <a:rPr lang="ja-JP" altLang="en-US"/>
              <a:t>月</a:t>
            </a:r>
            <a:r>
              <a:rPr lang="en-US" altLang="ja-JP" dirty="0"/>
              <a:t>13</a:t>
            </a:r>
            <a:r>
              <a:rPr lang="ja-JP" altLang="en-US"/>
              <a:t>日</a:t>
            </a:r>
            <a:endParaRPr lang="en-US" altLang="ja-JP" dirty="0"/>
          </a:p>
          <a:p>
            <a:r>
              <a:rPr lang="ja-JP" altLang="en-US"/>
              <a:t>工学部工学科知能情報システムプログラム</a:t>
            </a:r>
            <a:endParaRPr lang="en-US" altLang="ja-JP" dirty="0"/>
          </a:p>
          <a:p>
            <a:r>
              <a:rPr lang="ja-JP" altLang="en-US"/>
              <a:t>卒業研究発表会</a:t>
            </a:r>
          </a:p>
        </p:txBody>
      </p:sp>
    </p:spTree>
    <p:extLst>
      <p:ext uri="{BB962C8B-B14F-4D97-AF65-F5344CB8AC3E}">
        <p14:creationId xmlns:p14="http://schemas.microsoft.com/office/powerpoint/2010/main" val="3841693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D96E96-CE8C-D212-8740-1C90AA11B545}"/>
              </a:ext>
            </a:extLst>
          </p:cNvPr>
          <p:cNvSpPr>
            <a:spLocks noGrp="1"/>
          </p:cNvSpPr>
          <p:nvPr>
            <p:ph type="title"/>
          </p:nvPr>
        </p:nvSpPr>
        <p:spPr/>
        <p:txBody>
          <a:bodyPr/>
          <a:lstStyle/>
          <a:p>
            <a:r>
              <a:rPr kumimoji="1" lang="ja-JP" altLang="en-US"/>
              <a:t>研究室に人来ますか？</a:t>
            </a:r>
          </a:p>
        </p:txBody>
      </p:sp>
      <p:sp>
        <p:nvSpPr>
          <p:cNvPr id="3" name="コンテンツ プレースホルダー 2">
            <a:extLst>
              <a:ext uri="{FF2B5EF4-FFF2-40B4-BE49-F238E27FC236}">
                <a16:creationId xmlns:a16="http://schemas.microsoft.com/office/drawing/2014/main" id="{70977221-949D-04D3-EBE1-1855EE679AF3}"/>
              </a:ext>
            </a:extLst>
          </p:cNvPr>
          <p:cNvSpPr>
            <a:spLocks noGrp="1"/>
          </p:cNvSpPr>
          <p:nvPr>
            <p:ph idx="1"/>
          </p:nvPr>
        </p:nvSpPr>
        <p:spPr/>
        <p:txBody>
          <a:bodyPr>
            <a:normAutofit lnSpcReduction="10000"/>
          </a:bodyPr>
          <a:lstStyle/>
          <a:p>
            <a:pPr marL="0" indent="0">
              <a:buNone/>
            </a:pPr>
            <a:r>
              <a:rPr lang="ja-JP" altLang="en-US"/>
              <a:t>少なくともうち</a:t>
            </a:r>
            <a:r>
              <a:rPr lang="en-US" altLang="ja-JP" dirty="0"/>
              <a:t>(</a:t>
            </a:r>
            <a:r>
              <a:rPr lang="ja-JP" altLang="en-US"/>
              <a:t>上野研</a:t>
            </a:r>
            <a:r>
              <a:rPr lang="en-US" altLang="ja-JP" dirty="0"/>
              <a:t>)</a:t>
            </a:r>
            <a:r>
              <a:rPr lang="ja-JP" altLang="en-US"/>
              <a:t>は来ない</a:t>
            </a:r>
            <a:r>
              <a:rPr lang="en-US" altLang="ja-JP" dirty="0"/>
              <a:t>(</a:t>
            </a:r>
            <a:r>
              <a:rPr lang="ja-JP" altLang="en-US"/>
              <a:t>僕も行ってなかった</a:t>
            </a:r>
            <a:r>
              <a:rPr lang="en-US" altLang="ja-JP" dirty="0"/>
              <a:t>)</a:t>
            </a:r>
          </a:p>
          <a:p>
            <a:pPr marL="0" indent="0">
              <a:buNone/>
            </a:pPr>
            <a:r>
              <a:rPr lang="ja-JP" altLang="en-US"/>
              <a:t>→</a:t>
            </a:r>
            <a:r>
              <a:rPr lang="en-US" altLang="ja-JP" dirty="0"/>
              <a:t> </a:t>
            </a:r>
            <a:r>
              <a:rPr lang="ja-JP" altLang="en-US"/>
              <a:t>僕はめんどかった</a:t>
            </a:r>
            <a:endParaRPr lang="en-US" altLang="ja-JP" dirty="0"/>
          </a:p>
          <a:p>
            <a:pPr marL="0" indent="0">
              <a:buNone/>
            </a:pPr>
            <a:endParaRPr lang="en-US" altLang="ja-JP" dirty="0"/>
          </a:p>
          <a:p>
            <a:pPr marL="0" indent="0">
              <a:buNone/>
            </a:pPr>
            <a:r>
              <a:rPr lang="en-US" altLang="ja-JP" dirty="0"/>
              <a:t>but </a:t>
            </a:r>
            <a:r>
              <a:rPr lang="ja-JP" altLang="en-US"/>
              <a:t>実際に来てみると</a:t>
            </a:r>
            <a:endParaRPr lang="en-US" altLang="ja-JP" dirty="0"/>
          </a:p>
          <a:p>
            <a:pPr marL="0" indent="0">
              <a:buNone/>
            </a:pPr>
            <a:r>
              <a:rPr lang="ja-JP" altLang="en-US"/>
              <a:t>研究室に来ると</a:t>
            </a:r>
            <a:r>
              <a:rPr lang="ja-JP" altLang="en-US" b="1"/>
              <a:t>人と話せる</a:t>
            </a:r>
            <a:r>
              <a:rPr lang="ja-JP" altLang="en-US"/>
              <a:t>メリットがある</a:t>
            </a:r>
            <a:endParaRPr lang="en-US" altLang="ja-JP" dirty="0"/>
          </a:p>
          <a:p>
            <a:pPr marL="0" indent="0">
              <a:buNone/>
            </a:pPr>
            <a:r>
              <a:rPr lang="ja-JP" altLang="en-US"/>
              <a:t>→</a:t>
            </a:r>
            <a:r>
              <a:rPr lang="en-US" altLang="ja-JP" dirty="0"/>
              <a:t> </a:t>
            </a:r>
            <a:r>
              <a:rPr lang="ja-JP" altLang="en-US"/>
              <a:t>雑談や研究の議論を通じて、有意義な時間</a:t>
            </a:r>
            <a:endParaRPr lang="en-US" altLang="ja-JP" dirty="0"/>
          </a:p>
          <a:p>
            <a:pPr marL="0" indent="0">
              <a:buNone/>
            </a:pPr>
            <a:endParaRPr lang="en-US" altLang="ja-JP" dirty="0"/>
          </a:p>
          <a:p>
            <a:pPr marL="0" indent="0">
              <a:buNone/>
            </a:pPr>
            <a:r>
              <a:rPr lang="ja-JP" altLang="en-US"/>
              <a:t>みんなにこのメリットを知ってもらい、</a:t>
            </a:r>
            <a:r>
              <a:rPr lang="ja-JP" altLang="en-US" b="1"/>
              <a:t>その結果</a:t>
            </a:r>
            <a:endParaRPr lang="en-US" altLang="ja-JP" b="1" dirty="0"/>
          </a:p>
          <a:p>
            <a:pPr marL="0" indent="0">
              <a:buNone/>
            </a:pPr>
            <a:r>
              <a:rPr lang="ja-JP" altLang="en-US"/>
              <a:t>研究室に来てもらいたい</a:t>
            </a:r>
            <a:endParaRPr lang="en-US" altLang="ja-JP" dirty="0"/>
          </a:p>
          <a:p>
            <a:pPr marL="0" indent="0">
              <a:buNone/>
            </a:pPr>
            <a:endParaRPr lang="en-US" altLang="ja-JP" dirty="0"/>
          </a:p>
          <a:p>
            <a:pPr marL="0" indent="0">
              <a:buNone/>
            </a:pPr>
            <a:endParaRPr lang="en-US" altLang="ja-JP" dirty="0"/>
          </a:p>
          <a:p>
            <a:pPr marL="0" indent="0">
              <a:buNone/>
            </a:pPr>
            <a:endParaRPr kumimoji="1" lang="en-US" altLang="ja-JP" dirty="0"/>
          </a:p>
        </p:txBody>
      </p:sp>
    </p:spTree>
    <p:extLst>
      <p:ext uri="{BB962C8B-B14F-4D97-AF65-F5344CB8AC3E}">
        <p14:creationId xmlns:p14="http://schemas.microsoft.com/office/powerpoint/2010/main" val="2440605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468BC0-7243-8133-08E5-2A4B999DDBE9}"/>
              </a:ext>
            </a:extLst>
          </p:cNvPr>
          <p:cNvSpPr>
            <a:spLocks noGrp="1"/>
          </p:cNvSpPr>
          <p:nvPr>
            <p:ph type="title"/>
          </p:nvPr>
        </p:nvSpPr>
        <p:spPr/>
        <p:txBody>
          <a:bodyPr/>
          <a:lstStyle/>
          <a:p>
            <a:r>
              <a:rPr kumimoji="1" lang="ja-JP" altLang="en-US"/>
              <a:t>どうしたら来てもらえるか？</a:t>
            </a:r>
          </a:p>
        </p:txBody>
      </p:sp>
      <p:sp>
        <p:nvSpPr>
          <p:cNvPr id="3" name="コンテンツ プレースホルダー 2">
            <a:extLst>
              <a:ext uri="{FF2B5EF4-FFF2-40B4-BE49-F238E27FC236}">
                <a16:creationId xmlns:a16="http://schemas.microsoft.com/office/drawing/2014/main" id="{F36D7295-93B8-C6C3-0C15-CC2B51DF67DF}"/>
              </a:ext>
            </a:extLst>
          </p:cNvPr>
          <p:cNvSpPr>
            <a:spLocks noGrp="1"/>
          </p:cNvSpPr>
          <p:nvPr>
            <p:ph idx="1"/>
          </p:nvPr>
        </p:nvSpPr>
        <p:spPr>
          <a:xfrm>
            <a:off x="838200" y="1799499"/>
            <a:ext cx="11353800" cy="4351338"/>
          </a:xfrm>
        </p:spPr>
        <p:txBody>
          <a:bodyPr>
            <a:normAutofit lnSpcReduction="10000"/>
          </a:bodyPr>
          <a:lstStyle/>
          <a:p>
            <a:pPr marL="0" indent="0">
              <a:buNone/>
            </a:pPr>
            <a:r>
              <a:rPr lang="ja-JP" altLang="en-US"/>
              <a:t>めんどくさい</a:t>
            </a:r>
            <a:r>
              <a:rPr lang="en-US" altLang="ja-JP" dirty="0"/>
              <a:t> &lt; </a:t>
            </a:r>
            <a:r>
              <a:rPr lang="ja-JP" altLang="en-US"/>
              <a:t>動機</a:t>
            </a:r>
            <a:r>
              <a:rPr lang="en-US" altLang="ja-JP" dirty="0"/>
              <a:t> </a:t>
            </a:r>
            <a:r>
              <a:rPr lang="ja-JP" altLang="en-US"/>
              <a:t>→</a:t>
            </a:r>
            <a:r>
              <a:rPr lang="en-US" altLang="ja-JP" dirty="0"/>
              <a:t>  </a:t>
            </a:r>
            <a:r>
              <a:rPr lang="ja-JP" altLang="en-US"/>
              <a:t>行動</a:t>
            </a:r>
            <a:r>
              <a:rPr lang="en-US" altLang="ja-JP" dirty="0"/>
              <a:t>(</a:t>
            </a:r>
            <a:r>
              <a:rPr lang="ja-JP" altLang="en-US"/>
              <a:t>研究室に来る</a:t>
            </a:r>
            <a:r>
              <a:rPr lang="en-US" altLang="ja-JP" dirty="0"/>
              <a:t>)</a:t>
            </a:r>
          </a:p>
          <a:p>
            <a:pPr marL="0" indent="0">
              <a:buNone/>
            </a:pPr>
            <a:endParaRPr lang="en-US" altLang="ja-JP" dirty="0"/>
          </a:p>
          <a:p>
            <a:pPr marL="0" indent="0">
              <a:buNone/>
            </a:pPr>
            <a:r>
              <a:rPr lang="ja-JP" altLang="en-US"/>
              <a:t>動機には、</a:t>
            </a:r>
            <a:r>
              <a:rPr lang="ja-JP" altLang="en-US" b="1"/>
              <a:t>内発的動機</a:t>
            </a:r>
            <a:r>
              <a:rPr lang="ja-JP" altLang="en-US"/>
              <a:t>と</a:t>
            </a:r>
            <a:r>
              <a:rPr lang="ja-JP" altLang="en-US" b="1"/>
              <a:t>外発的動機</a:t>
            </a:r>
            <a:r>
              <a:rPr lang="ja-JP" altLang="en-US"/>
              <a:t>がある</a:t>
            </a:r>
            <a:endParaRPr lang="en-US" altLang="ja-JP" dirty="0"/>
          </a:p>
          <a:p>
            <a:pPr marL="0" indent="0">
              <a:buNone/>
            </a:pPr>
            <a:r>
              <a:rPr lang="ja-JP" altLang="en-US"/>
              <a:t>内発的動機</a:t>
            </a:r>
            <a:r>
              <a:rPr lang="en-US" altLang="ja-JP" dirty="0"/>
              <a:t> = </a:t>
            </a:r>
            <a:r>
              <a:rPr lang="ja-JP" altLang="en-US"/>
              <a:t>研究が好き</a:t>
            </a:r>
            <a:r>
              <a:rPr lang="en-US" altLang="ja-JP" dirty="0"/>
              <a:t> </a:t>
            </a:r>
            <a:r>
              <a:rPr lang="ja-JP" altLang="en-US"/>
              <a:t>→</a:t>
            </a:r>
            <a:r>
              <a:rPr lang="en-US" altLang="ja-JP" dirty="0"/>
              <a:t> </a:t>
            </a:r>
            <a:r>
              <a:rPr lang="ja-JP" altLang="en-US"/>
              <a:t>すでに来てる</a:t>
            </a:r>
            <a:endParaRPr lang="en-US" altLang="ja-JP" dirty="0"/>
          </a:p>
          <a:p>
            <a:pPr marL="0" indent="0">
              <a:buNone/>
            </a:pPr>
            <a:r>
              <a:rPr lang="ja-JP" altLang="en-US"/>
              <a:t>外発的動機</a:t>
            </a:r>
            <a:r>
              <a:rPr lang="en-US" altLang="ja-JP" dirty="0"/>
              <a:t> = </a:t>
            </a:r>
            <a:r>
              <a:rPr lang="ja-JP" altLang="en-US"/>
              <a:t>コアタイム</a:t>
            </a:r>
            <a:r>
              <a:rPr lang="en-US" altLang="ja-JP" dirty="0"/>
              <a:t> </a:t>
            </a:r>
            <a:r>
              <a:rPr lang="ja-JP" altLang="en-US"/>
              <a:t>→</a:t>
            </a:r>
            <a:r>
              <a:rPr lang="en-US" altLang="ja-JP" dirty="0"/>
              <a:t> </a:t>
            </a:r>
            <a:r>
              <a:rPr lang="ja-JP" altLang="en-US"/>
              <a:t>「人と話す」メリットが自覚しづらい</a:t>
            </a:r>
            <a:endParaRPr lang="en-US" altLang="ja-JP" dirty="0"/>
          </a:p>
          <a:p>
            <a:pPr marL="0" indent="0">
              <a:buNone/>
            </a:pPr>
            <a:endParaRPr lang="en-US" altLang="ja-JP" dirty="0"/>
          </a:p>
          <a:p>
            <a:pPr marL="0" indent="0">
              <a:buNone/>
            </a:pPr>
            <a:r>
              <a:rPr lang="ja-JP" altLang="en-US"/>
              <a:t>「人と話す」メリットを分かってもらった上で、自発的に</a:t>
            </a:r>
            <a:endParaRPr lang="en-US" altLang="ja-JP" dirty="0"/>
          </a:p>
          <a:p>
            <a:pPr marL="0" indent="0">
              <a:buNone/>
            </a:pPr>
            <a:r>
              <a:rPr kumimoji="1" lang="ja-JP" altLang="en-US"/>
              <a:t>研究室に来て欲しい</a:t>
            </a:r>
            <a:endParaRPr kumimoji="1" lang="en-US" altLang="ja-JP" dirty="0"/>
          </a:p>
          <a:p>
            <a:pPr marL="0" indent="0">
              <a:buNone/>
            </a:pPr>
            <a:r>
              <a:rPr lang="ja-JP" altLang="en-US"/>
              <a:t>→</a:t>
            </a:r>
            <a:r>
              <a:rPr lang="en-US" altLang="ja-JP" dirty="0"/>
              <a:t> </a:t>
            </a:r>
            <a:r>
              <a:rPr lang="ja-JP" altLang="en-US"/>
              <a:t>「ゲーミフィケーション」と呼ばれる手法がある</a:t>
            </a:r>
            <a:endParaRPr kumimoji="1" lang="en-US" altLang="ja-JP" dirty="0"/>
          </a:p>
        </p:txBody>
      </p:sp>
    </p:spTree>
    <p:extLst>
      <p:ext uri="{BB962C8B-B14F-4D97-AF65-F5344CB8AC3E}">
        <p14:creationId xmlns:p14="http://schemas.microsoft.com/office/powerpoint/2010/main" val="3612472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5B92F1-1C02-FC7B-7875-D6BA04B0AED5}"/>
              </a:ext>
            </a:extLst>
          </p:cNvPr>
          <p:cNvSpPr>
            <a:spLocks noGrp="1"/>
          </p:cNvSpPr>
          <p:nvPr>
            <p:ph type="title"/>
          </p:nvPr>
        </p:nvSpPr>
        <p:spPr/>
        <p:txBody>
          <a:bodyPr/>
          <a:lstStyle/>
          <a:p>
            <a:r>
              <a:rPr kumimoji="1" lang="ja-JP" altLang="en-US"/>
              <a:t>ゲーミフィケーションとは</a:t>
            </a:r>
          </a:p>
        </p:txBody>
      </p:sp>
      <p:sp>
        <p:nvSpPr>
          <p:cNvPr id="3" name="コンテンツ プレースホルダー 2">
            <a:extLst>
              <a:ext uri="{FF2B5EF4-FFF2-40B4-BE49-F238E27FC236}">
                <a16:creationId xmlns:a16="http://schemas.microsoft.com/office/drawing/2014/main" id="{FB4D4FBC-D267-38EA-3B3F-8149F374AD14}"/>
              </a:ext>
            </a:extLst>
          </p:cNvPr>
          <p:cNvSpPr>
            <a:spLocks noGrp="1"/>
          </p:cNvSpPr>
          <p:nvPr>
            <p:ph idx="1"/>
          </p:nvPr>
        </p:nvSpPr>
        <p:spPr/>
        <p:txBody>
          <a:bodyPr>
            <a:normAutofit/>
          </a:bodyPr>
          <a:lstStyle/>
          <a:p>
            <a:pPr marL="0" indent="0">
              <a:buNone/>
            </a:pPr>
            <a:r>
              <a:rPr lang="ja-JP" altLang="en-US"/>
              <a:t>ゲームで培われた人を熱中させる要素を、現実の行動に持ち込む</a:t>
            </a:r>
            <a:endParaRPr lang="en-US" altLang="ja-JP" dirty="0"/>
          </a:p>
          <a:p>
            <a:pPr marL="0" indent="0">
              <a:buNone/>
            </a:pPr>
            <a:endParaRPr lang="en-US" altLang="ja-JP" dirty="0"/>
          </a:p>
          <a:p>
            <a:pPr marL="0" indent="0">
              <a:buNone/>
            </a:pPr>
            <a:r>
              <a:rPr lang="ja-JP" altLang="en-US"/>
              <a:t>「卒論ウォッチ」</a:t>
            </a:r>
            <a:r>
              <a:rPr lang="en-US" altLang="ja-JP" sz="1600" dirty="0"/>
              <a:t>[1]</a:t>
            </a:r>
            <a:r>
              <a:rPr lang="ja-JP" altLang="en-US"/>
              <a:t>⋯</a:t>
            </a:r>
            <a:r>
              <a:rPr lang="en-US" altLang="ja-JP" dirty="0"/>
              <a:t> </a:t>
            </a:r>
            <a:r>
              <a:rPr lang="ja-JP" altLang="en-US"/>
              <a:t>卒論の進捗</a:t>
            </a:r>
            <a:r>
              <a:rPr lang="en-US" altLang="ja-JP" dirty="0"/>
              <a:t>(</a:t>
            </a:r>
            <a:r>
              <a:rPr lang="ja-JP" altLang="en-US"/>
              <a:t>ページ数</a:t>
            </a:r>
            <a:r>
              <a:rPr lang="en-US" altLang="ja-JP" dirty="0"/>
              <a:t>)</a:t>
            </a:r>
            <a:r>
              <a:rPr lang="ja-JP" altLang="en-US"/>
              <a:t>を管理し、共有</a:t>
            </a:r>
            <a:endParaRPr lang="en-US" altLang="ja-JP" dirty="0"/>
          </a:p>
          <a:p>
            <a:pPr marL="0" indent="0">
              <a:buNone/>
            </a:pPr>
            <a:endParaRPr lang="en-US" altLang="ja-JP" dirty="0"/>
          </a:p>
          <a:p>
            <a:pPr marL="0" indent="0">
              <a:buNone/>
            </a:pPr>
            <a:r>
              <a:rPr lang="ja-JP" altLang="en-US"/>
              <a:t>「卒論を執筆する」ことに熱中させるために</a:t>
            </a:r>
            <a:endParaRPr lang="en-US" altLang="ja-JP" dirty="0"/>
          </a:p>
          <a:p>
            <a:pPr marL="0" indent="0">
              <a:buNone/>
            </a:pPr>
            <a:r>
              <a:rPr lang="en-US" altLang="ja-JP" b="1" dirty="0"/>
              <a:t>  </a:t>
            </a:r>
            <a:r>
              <a:rPr lang="ja-JP" altLang="en-US" b="1"/>
              <a:t>ゲームの要素</a:t>
            </a:r>
            <a:r>
              <a:rPr lang="en-US" altLang="ja-JP" b="1" dirty="0"/>
              <a:t> = </a:t>
            </a:r>
            <a:r>
              <a:rPr lang="ja-JP" altLang="en-US" b="1"/>
              <a:t>ランキング</a:t>
            </a:r>
            <a:r>
              <a:rPr lang="ja-JP" altLang="en-US"/>
              <a:t>を導入した</a:t>
            </a:r>
            <a:endParaRPr lang="en-US" altLang="ja-JP" dirty="0"/>
          </a:p>
          <a:p>
            <a:pPr marL="0" indent="0">
              <a:buNone/>
            </a:pPr>
            <a:endParaRPr lang="en-US" altLang="ja-JP" dirty="0"/>
          </a:p>
          <a:p>
            <a:pPr marL="0" indent="0">
              <a:buNone/>
            </a:pPr>
            <a:r>
              <a:rPr lang="ja-JP" altLang="en-US"/>
              <a:t>「卒論を執筆する」</a:t>
            </a:r>
            <a:r>
              <a:rPr lang="ja-JP" altLang="en-US" b="1"/>
              <a:t>自体のやる気</a:t>
            </a:r>
            <a:r>
              <a:rPr lang="en-US" altLang="ja-JP" b="1" dirty="0"/>
              <a:t> = </a:t>
            </a:r>
            <a:r>
              <a:rPr lang="ja-JP" altLang="en-US" b="1"/>
              <a:t>内発的動機</a:t>
            </a:r>
            <a:r>
              <a:rPr lang="en-US" altLang="ja-JP" b="1" dirty="0"/>
              <a:t> </a:t>
            </a:r>
            <a:r>
              <a:rPr lang="ja-JP" altLang="en-US"/>
              <a:t>も増える</a:t>
            </a:r>
            <a:endParaRPr kumimoji="1" lang="en-US" altLang="ja-JP" dirty="0"/>
          </a:p>
          <a:p>
            <a:pPr marL="0" indent="0">
              <a:buNone/>
            </a:pPr>
            <a:endParaRPr kumimoji="1" lang="en-US" altLang="ja-JP" dirty="0"/>
          </a:p>
          <a:p>
            <a:pPr marL="0" indent="0">
              <a:buNone/>
            </a:pPr>
            <a:endParaRPr kumimoji="1" lang="en-US" altLang="ja-JP" dirty="0"/>
          </a:p>
          <a:p>
            <a:pPr marL="0" indent="0">
              <a:buNone/>
            </a:pPr>
            <a:endParaRPr kumimoji="1" lang="en-US" altLang="ja-JP" dirty="0"/>
          </a:p>
          <a:p>
            <a:pPr marL="0" indent="0">
              <a:buNone/>
            </a:pPr>
            <a:endParaRPr lang="en-US" altLang="ja-JP" dirty="0"/>
          </a:p>
        </p:txBody>
      </p:sp>
      <p:sp>
        <p:nvSpPr>
          <p:cNvPr id="23" name="テキスト ボックス 22">
            <a:extLst>
              <a:ext uri="{FF2B5EF4-FFF2-40B4-BE49-F238E27FC236}">
                <a16:creationId xmlns:a16="http://schemas.microsoft.com/office/drawing/2014/main" id="{6F1A0B4A-1A25-47EE-0FFA-C4FCCC70933D}"/>
              </a:ext>
            </a:extLst>
          </p:cNvPr>
          <p:cNvSpPr txBox="1"/>
          <p:nvPr/>
        </p:nvSpPr>
        <p:spPr>
          <a:xfrm>
            <a:off x="572671" y="6176963"/>
            <a:ext cx="10071988" cy="923330"/>
          </a:xfrm>
          <a:prstGeom prst="rect">
            <a:avLst/>
          </a:prstGeom>
          <a:noFill/>
        </p:spPr>
        <p:txBody>
          <a:bodyPr wrap="none" rtlCol="0">
            <a:spAutoFit/>
          </a:bodyPr>
          <a:lstStyle/>
          <a:p>
            <a:r>
              <a:rPr kumimoji="1" lang="en-US" altLang="ja-JP" dirty="0"/>
              <a:t>[1] </a:t>
            </a:r>
            <a:r>
              <a:rPr lang="ja-JP" altLang="en-US" b="0">
                <a:effectLst/>
                <a:latin typeface="Arial" panose="020B0604020202020204" pitchFamily="34" charset="0"/>
                <a:cs typeface="Arial" panose="020B0604020202020204" pitchFamily="34" charset="0"/>
              </a:rPr>
              <a:t>鳴海 拓志</a:t>
            </a:r>
            <a:r>
              <a:rPr lang="en-US" altLang="ja-JP" b="0" dirty="0">
                <a:effectLst/>
                <a:latin typeface="Arial" panose="020B0604020202020204" pitchFamily="34" charset="0"/>
                <a:cs typeface="Arial" panose="020B0604020202020204" pitchFamily="34" charset="0"/>
              </a:rPr>
              <a:t>,</a:t>
            </a:r>
            <a:r>
              <a:rPr lang="ja-JP" altLang="en-US" b="0">
                <a:effectLst/>
                <a:latin typeface="Arial" panose="020B0604020202020204" pitchFamily="34" charset="0"/>
                <a:cs typeface="Arial" panose="020B0604020202020204" pitchFamily="34" charset="0"/>
              </a:rPr>
              <a:t>谷川 智洋</a:t>
            </a:r>
            <a:r>
              <a:rPr lang="en-US" altLang="ja-JP" b="0" dirty="0">
                <a:effectLst/>
                <a:latin typeface="Arial" panose="020B0604020202020204" pitchFamily="34" charset="0"/>
                <a:cs typeface="Arial" panose="020B0604020202020204" pitchFamily="34" charset="0"/>
              </a:rPr>
              <a:t>,</a:t>
            </a:r>
            <a:r>
              <a:rPr lang="ja-JP" altLang="en-US" b="0">
                <a:effectLst/>
                <a:latin typeface="Arial" panose="020B0604020202020204" pitchFamily="34" charset="0"/>
                <a:cs typeface="Arial" panose="020B0604020202020204" pitchFamily="34" charset="0"/>
              </a:rPr>
              <a:t>廣瀬 通孝</a:t>
            </a:r>
            <a:r>
              <a:rPr lang="en-US" altLang="ja-JP" b="0" dirty="0">
                <a:effectLst/>
                <a:latin typeface="Arial" panose="020B0604020202020204" pitchFamily="34" charset="0"/>
                <a:cs typeface="Arial" panose="020B0604020202020204" pitchFamily="34" charset="0"/>
              </a:rPr>
              <a:t>. </a:t>
            </a:r>
            <a:r>
              <a:rPr lang="ja-JP" altLang="en-US" b="0">
                <a:effectLst/>
                <a:latin typeface="Arial" panose="020B0604020202020204" pitchFamily="34" charset="0"/>
                <a:cs typeface="Arial" panose="020B0604020202020204" pitchFamily="34" charset="0"/>
              </a:rPr>
              <a:t>ゲーミフィケーションを利用した研究活動の可視化と活性化</a:t>
            </a:r>
            <a:r>
              <a:rPr lang="en-US" altLang="ja-JP" b="0" dirty="0">
                <a:effectLst/>
                <a:latin typeface="Arial" panose="020B0604020202020204" pitchFamily="34" charset="0"/>
                <a:cs typeface="Arial" panose="020B0604020202020204" pitchFamily="34" charset="0"/>
              </a:rPr>
              <a:t>. </a:t>
            </a:r>
          </a:p>
          <a:p>
            <a:r>
              <a:rPr lang="en" altLang="ja-JP" b="0" dirty="0">
                <a:effectLst/>
                <a:latin typeface="Arial" panose="020B0604020202020204" pitchFamily="34" charset="0"/>
                <a:cs typeface="Arial" panose="020B0604020202020204" pitchFamily="34" charset="0"/>
              </a:rPr>
              <a:t>      The 29th Annual Conference of the Japanese Society for Artificial Intelligence, 2015</a:t>
            </a:r>
          </a:p>
          <a:p>
            <a:endParaRPr kumimoji="1" lang="ja-JP" altLang="en-US"/>
          </a:p>
        </p:txBody>
      </p:sp>
    </p:spTree>
    <p:extLst>
      <p:ext uri="{BB962C8B-B14F-4D97-AF65-F5344CB8AC3E}">
        <p14:creationId xmlns:p14="http://schemas.microsoft.com/office/powerpoint/2010/main" val="2580100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CCE549-B85A-DE01-E814-9AFCF0B50D3D}"/>
              </a:ext>
            </a:extLst>
          </p:cNvPr>
          <p:cNvSpPr>
            <a:spLocks noGrp="1"/>
          </p:cNvSpPr>
          <p:nvPr>
            <p:ph type="title"/>
          </p:nvPr>
        </p:nvSpPr>
        <p:spPr/>
        <p:txBody>
          <a:bodyPr/>
          <a:lstStyle/>
          <a:p>
            <a:r>
              <a:rPr lang="ja-JP" altLang="en-US"/>
              <a:t>「研究室に来る」ゲーミフィケーション</a:t>
            </a:r>
            <a:endParaRPr kumimoji="1" lang="ja-JP" altLang="en-US"/>
          </a:p>
        </p:txBody>
      </p:sp>
      <p:sp>
        <p:nvSpPr>
          <p:cNvPr id="3" name="コンテンツ プレースホルダー 2">
            <a:extLst>
              <a:ext uri="{FF2B5EF4-FFF2-40B4-BE49-F238E27FC236}">
                <a16:creationId xmlns:a16="http://schemas.microsoft.com/office/drawing/2014/main" id="{BF261B1A-D8CE-3AA0-8B32-6A4D68585680}"/>
              </a:ext>
            </a:extLst>
          </p:cNvPr>
          <p:cNvSpPr>
            <a:spLocks noGrp="1"/>
          </p:cNvSpPr>
          <p:nvPr>
            <p:ph idx="1"/>
          </p:nvPr>
        </p:nvSpPr>
        <p:spPr/>
        <p:txBody>
          <a:bodyPr>
            <a:noAutofit/>
          </a:bodyPr>
          <a:lstStyle/>
          <a:p>
            <a:pPr marL="0" indent="0">
              <a:buNone/>
            </a:pPr>
            <a:r>
              <a:rPr kumimoji="1" lang="ja-JP" altLang="en-US"/>
              <a:t>目的</a:t>
            </a:r>
            <a:r>
              <a:rPr kumimoji="1" lang="en-US" altLang="ja-JP" dirty="0"/>
              <a:t> : </a:t>
            </a:r>
            <a:r>
              <a:rPr kumimoji="1" lang="ja-JP" altLang="en-US" b="1"/>
              <a:t>人と話をさせるメリットを理解してもらい</a:t>
            </a:r>
            <a:r>
              <a:rPr kumimoji="1" lang="ja-JP" altLang="en-US"/>
              <a:t>、</a:t>
            </a:r>
            <a:endParaRPr kumimoji="1" lang="en-US" altLang="ja-JP" dirty="0"/>
          </a:p>
          <a:p>
            <a:pPr marL="0" indent="0">
              <a:buNone/>
            </a:pPr>
            <a:r>
              <a:rPr lang="en-US" altLang="ja-JP" dirty="0"/>
              <a:t>	 </a:t>
            </a:r>
            <a:r>
              <a:rPr lang="ja-JP" altLang="en-US"/>
              <a:t>研究室を盛り上げる</a:t>
            </a:r>
            <a:endParaRPr lang="en-US" altLang="ja-JP" dirty="0"/>
          </a:p>
          <a:p>
            <a:pPr marL="0" indent="0">
              <a:buNone/>
            </a:pPr>
            <a:endParaRPr kumimoji="1" lang="en-US" altLang="ja-JP" dirty="0"/>
          </a:p>
          <a:p>
            <a:pPr marL="0" indent="0">
              <a:buNone/>
            </a:pPr>
            <a:r>
              <a:rPr lang="ja-JP" altLang="en-US"/>
              <a:t>目的達成の</a:t>
            </a:r>
            <a:r>
              <a:rPr kumimoji="1" lang="ja-JP" altLang="en-US"/>
              <a:t>ためのゲーミフィケーション要素</a:t>
            </a:r>
            <a:endParaRPr kumimoji="1" lang="en-US" altLang="ja-JP" dirty="0"/>
          </a:p>
          <a:p>
            <a:pPr marL="0" indent="0">
              <a:buNone/>
            </a:pPr>
            <a:r>
              <a:rPr lang="ja-JP" altLang="en-US"/>
              <a:t>→</a:t>
            </a:r>
            <a:r>
              <a:rPr lang="en-US" altLang="ja-JP" dirty="0"/>
              <a:t> </a:t>
            </a:r>
            <a:r>
              <a:rPr lang="ja-JP" altLang="en-US"/>
              <a:t>「ゲームにおけるチームの協力要素」</a:t>
            </a:r>
            <a:endParaRPr lang="en-US" altLang="ja-JP" dirty="0"/>
          </a:p>
          <a:p>
            <a:pPr marL="0" indent="0">
              <a:buNone/>
            </a:pPr>
            <a:endParaRPr lang="en-US" altLang="ja-JP" dirty="0"/>
          </a:p>
          <a:p>
            <a:pPr marL="0" indent="0">
              <a:buNone/>
            </a:pPr>
            <a:r>
              <a:rPr lang="ja-JP" altLang="en-US"/>
              <a:t>「人と話を」させ、その有用性に気づいてもらう</a:t>
            </a:r>
            <a:endParaRPr lang="en-US" altLang="ja-JP" dirty="0"/>
          </a:p>
          <a:p>
            <a:pPr marL="0" indent="0">
              <a:buNone/>
            </a:pPr>
            <a:r>
              <a:rPr lang="ja-JP" altLang="en-US"/>
              <a:t>→</a:t>
            </a:r>
            <a:r>
              <a:rPr lang="en-US" altLang="ja-JP" dirty="0"/>
              <a:t> </a:t>
            </a:r>
            <a:r>
              <a:rPr lang="ja-JP" altLang="en-US"/>
              <a:t>協力型のクイズゲーム風に仕立てる</a:t>
            </a:r>
            <a:endParaRPr kumimoji="1" lang="en-US" altLang="ja-JP" dirty="0"/>
          </a:p>
        </p:txBody>
      </p:sp>
    </p:spTree>
    <p:extLst>
      <p:ext uri="{BB962C8B-B14F-4D97-AF65-F5344CB8AC3E}">
        <p14:creationId xmlns:p14="http://schemas.microsoft.com/office/powerpoint/2010/main" val="2975980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2C66E1-5BED-975B-B515-1831194098BE}"/>
              </a:ext>
            </a:extLst>
          </p:cNvPr>
          <p:cNvSpPr>
            <a:spLocks noGrp="1"/>
          </p:cNvSpPr>
          <p:nvPr>
            <p:ph type="title"/>
          </p:nvPr>
        </p:nvSpPr>
        <p:spPr/>
        <p:txBody>
          <a:bodyPr/>
          <a:lstStyle/>
          <a:p>
            <a:r>
              <a:rPr kumimoji="1" lang="ja-JP" altLang="en-US"/>
              <a:t>クイズゲーム</a:t>
            </a:r>
            <a:r>
              <a:rPr kumimoji="1" lang="en-US" altLang="ja-JP" dirty="0"/>
              <a:t> </a:t>
            </a:r>
            <a:r>
              <a:rPr kumimoji="1" lang="ja-JP" altLang="en-US"/>
              <a:t>「</a:t>
            </a:r>
            <a:r>
              <a:rPr kumimoji="1" lang="en-US" altLang="ja-JP" dirty="0" err="1"/>
              <a:t>Ueno_Quest</a:t>
            </a:r>
            <a:r>
              <a:rPr kumimoji="1" lang="ja-JP" altLang="en-US"/>
              <a:t>」</a:t>
            </a:r>
          </a:p>
        </p:txBody>
      </p:sp>
      <p:sp>
        <p:nvSpPr>
          <p:cNvPr id="3" name="コンテンツ プレースホルダー 2">
            <a:extLst>
              <a:ext uri="{FF2B5EF4-FFF2-40B4-BE49-F238E27FC236}">
                <a16:creationId xmlns:a16="http://schemas.microsoft.com/office/drawing/2014/main" id="{490425AC-4959-88ED-8689-0A2B08970304}"/>
              </a:ext>
            </a:extLst>
          </p:cNvPr>
          <p:cNvSpPr>
            <a:spLocks noGrp="1"/>
          </p:cNvSpPr>
          <p:nvPr>
            <p:ph idx="1"/>
          </p:nvPr>
        </p:nvSpPr>
        <p:spPr>
          <a:xfrm>
            <a:off x="838200" y="1825625"/>
            <a:ext cx="10899098" cy="4815018"/>
          </a:xfrm>
        </p:spPr>
        <p:txBody>
          <a:bodyPr>
            <a:normAutofit lnSpcReduction="10000"/>
          </a:bodyPr>
          <a:lstStyle/>
          <a:p>
            <a:pPr marL="0" indent="0">
              <a:buNone/>
            </a:pPr>
            <a:r>
              <a:rPr kumimoji="1" lang="ja-JP" altLang="en-US"/>
              <a:t>「人と話をする」クイズゲームを作る</a:t>
            </a:r>
            <a:endParaRPr kumimoji="1" lang="en-US" altLang="ja-JP" dirty="0"/>
          </a:p>
          <a:p>
            <a:pPr marL="0" indent="0">
              <a:buNone/>
            </a:pPr>
            <a:r>
              <a:rPr lang="ja-JP" altLang="en-US"/>
              <a:t>→</a:t>
            </a:r>
            <a:r>
              <a:rPr kumimoji="1" lang="ja-JP" altLang="en-US"/>
              <a:t>「問題文」を</a:t>
            </a:r>
            <a:r>
              <a:rPr lang="ja-JP" altLang="en-US"/>
              <a:t>分割し、各プレイヤーに配る</a:t>
            </a:r>
            <a:endParaRPr lang="en-US" altLang="ja-JP" dirty="0"/>
          </a:p>
          <a:p>
            <a:pPr marL="0" indent="0">
              <a:buNone/>
            </a:pPr>
            <a:r>
              <a:rPr lang="ja-JP" altLang="en-US"/>
              <a:t>例</a:t>
            </a:r>
            <a:r>
              <a:rPr kumimoji="1" lang="en-US" altLang="ja-JP" dirty="0"/>
              <a:t>) </a:t>
            </a:r>
            <a:r>
              <a:rPr kumimoji="1" lang="ja-JP" altLang="en-US"/>
              <a:t>「世界一高い山は？」→</a:t>
            </a:r>
            <a:r>
              <a:rPr kumimoji="1" lang="en-US" altLang="ja-JP" dirty="0"/>
              <a:t> </a:t>
            </a:r>
            <a:r>
              <a:rPr kumimoji="1" lang="ja-JP" altLang="en-US"/>
              <a:t>「世界」「一高」「い山」「は？」</a:t>
            </a:r>
            <a:endParaRPr kumimoji="1"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ja-JP" altLang="en-US"/>
              <a:t>研究室にて話し合い、答えを出す</a:t>
            </a:r>
            <a:endParaRPr kumimoji="1" lang="ja-JP" altLang="en-US"/>
          </a:p>
        </p:txBody>
      </p:sp>
      <p:grpSp>
        <p:nvGrpSpPr>
          <p:cNvPr id="29" name="グループ化 28">
            <a:extLst>
              <a:ext uri="{FF2B5EF4-FFF2-40B4-BE49-F238E27FC236}">
                <a16:creationId xmlns:a16="http://schemas.microsoft.com/office/drawing/2014/main" id="{1B40FF51-3B18-14B1-AA5D-9F0942AD8BA0}"/>
              </a:ext>
            </a:extLst>
          </p:cNvPr>
          <p:cNvGrpSpPr/>
          <p:nvPr/>
        </p:nvGrpSpPr>
        <p:grpSpPr>
          <a:xfrm>
            <a:off x="2481263" y="3429000"/>
            <a:ext cx="6931278" cy="2505980"/>
            <a:chOff x="2305163" y="2607136"/>
            <a:chExt cx="6931278" cy="2505980"/>
          </a:xfrm>
        </p:grpSpPr>
        <p:sp>
          <p:nvSpPr>
            <p:cNvPr id="4" name="フローチャート: 処理 3">
              <a:extLst>
                <a:ext uri="{FF2B5EF4-FFF2-40B4-BE49-F238E27FC236}">
                  <a16:creationId xmlns:a16="http://schemas.microsoft.com/office/drawing/2014/main" id="{E4B7B2CA-885B-0656-8A02-E8C9A2C9E887}"/>
                </a:ext>
              </a:extLst>
            </p:cNvPr>
            <p:cNvSpPr/>
            <p:nvPr/>
          </p:nvSpPr>
          <p:spPr>
            <a:xfrm>
              <a:off x="4536198" y="2607136"/>
              <a:ext cx="2539159" cy="6126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5041081-07A7-94D1-83E5-C713CCA32C7D}"/>
                </a:ext>
              </a:extLst>
            </p:cNvPr>
            <p:cNvSpPr txBox="1"/>
            <p:nvPr/>
          </p:nvSpPr>
          <p:spPr>
            <a:xfrm>
              <a:off x="4905530" y="2728794"/>
              <a:ext cx="1800493" cy="369332"/>
            </a:xfrm>
            <a:prstGeom prst="rect">
              <a:avLst/>
            </a:prstGeom>
            <a:noFill/>
          </p:spPr>
          <p:txBody>
            <a:bodyPr wrap="none" rtlCol="0">
              <a:spAutoFit/>
            </a:bodyPr>
            <a:lstStyle/>
            <a:p>
              <a:r>
                <a:rPr lang="ja-JP" altLang="en-US"/>
                <a:t>ゲームマスター</a:t>
              </a:r>
              <a:endParaRPr kumimoji="1" lang="ja-JP" altLang="en-US"/>
            </a:p>
          </p:txBody>
        </p:sp>
        <p:sp>
          <p:nvSpPr>
            <p:cNvPr id="6" name="フローチャート: 処理 5">
              <a:extLst>
                <a:ext uri="{FF2B5EF4-FFF2-40B4-BE49-F238E27FC236}">
                  <a16:creationId xmlns:a16="http://schemas.microsoft.com/office/drawing/2014/main" id="{76AF9AFF-EC17-E68A-AC4E-A2C72EB7A6E9}"/>
                </a:ext>
              </a:extLst>
            </p:cNvPr>
            <p:cNvSpPr/>
            <p:nvPr/>
          </p:nvSpPr>
          <p:spPr>
            <a:xfrm>
              <a:off x="2305163" y="4001294"/>
              <a:ext cx="1307468" cy="6126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3251CB-98B3-0CC5-4906-0F4FC895F615}"/>
                </a:ext>
              </a:extLst>
            </p:cNvPr>
            <p:cNvSpPr txBox="1"/>
            <p:nvPr/>
          </p:nvSpPr>
          <p:spPr>
            <a:xfrm>
              <a:off x="2396794" y="4140168"/>
              <a:ext cx="1107996" cy="369332"/>
            </a:xfrm>
            <a:prstGeom prst="rect">
              <a:avLst/>
            </a:prstGeom>
            <a:noFill/>
          </p:spPr>
          <p:txBody>
            <a:bodyPr wrap="none" rtlCol="0">
              <a:spAutoFit/>
            </a:bodyPr>
            <a:lstStyle/>
            <a:p>
              <a:r>
                <a:rPr kumimoji="1" lang="ja-JP" altLang="en-US"/>
                <a:t>上野先生</a:t>
              </a:r>
            </a:p>
          </p:txBody>
        </p:sp>
        <p:sp>
          <p:nvSpPr>
            <p:cNvPr id="8" name="フローチャート: 処理 7">
              <a:extLst>
                <a:ext uri="{FF2B5EF4-FFF2-40B4-BE49-F238E27FC236}">
                  <a16:creationId xmlns:a16="http://schemas.microsoft.com/office/drawing/2014/main" id="{EAA269B3-7EEE-D6CB-4715-6B6BDD891B6A}"/>
                </a:ext>
              </a:extLst>
            </p:cNvPr>
            <p:cNvSpPr/>
            <p:nvPr/>
          </p:nvSpPr>
          <p:spPr>
            <a:xfrm>
              <a:off x="4001550" y="4001294"/>
              <a:ext cx="1307468" cy="6126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B21ED15-3DC2-E846-8012-B3B1EF414743}"/>
                </a:ext>
              </a:extLst>
            </p:cNvPr>
            <p:cNvSpPr txBox="1"/>
            <p:nvPr/>
          </p:nvSpPr>
          <p:spPr>
            <a:xfrm>
              <a:off x="4174222" y="4122952"/>
              <a:ext cx="962123" cy="369332"/>
            </a:xfrm>
            <a:prstGeom prst="rect">
              <a:avLst/>
            </a:prstGeom>
            <a:noFill/>
          </p:spPr>
          <p:txBody>
            <a:bodyPr wrap="none" rtlCol="0">
              <a:spAutoFit/>
            </a:bodyPr>
            <a:lstStyle/>
            <a:p>
              <a:r>
                <a:rPr kumimoji="1" lang="en-US" altLang="ja-JP" dirty="0"/>
                <a:t>player1</a:t>
              </a:r>
              <a:endParaRPr kumimoji="1" lang="ja-JP" altLang="en-US"/>
            </a:p>
          </p:txBody>
        </p:sp>
        <p:sp>
          <p:nvSpPr>
            <p:cNvPr id="10" name="フローチャート: 処理 9">
              <a:extLst>
                <a:ext uri="{FF2B5EF4-FFF2-40B4-BE49-F238E27FC236}">
                  <a16:creationId xmlns:a16="http://schemas.microsoft.com/office/drawing/2014/main" id="{02A9913A-5BFE-4929-F25F-EC1C1E1B3CE1}"/>
                </a:ext>
              </a:extLst>
            </p:cNvPr>
            <p:cNvSpPr/>
            <p:nvPr/>
          </p:nvSpPr>
          <p:spPr>
            <a:xfrm>
              <a:off x="6229250" y="4001294"/>
              <a:ext cx="1307468" cy="6126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A7EA1A7-61FC-C111-864A-B5CDA4A8097B}"/>
                </a:ext>
              </a:extLst>
            </p:cNvPr>
            <p:cNvSpPr txBox="1"/>
            <p:nvPr/>
          </p:nvSpPr>
          <p:spPr>
            <a:xfrm>
              <a:off x="6401922" y="4122952"/>
              <a:ext cx="962123" cy="369332"/>
            </a:xfrm>
            <a:prstGeom prst="rect">
              <a:avLst/>
            </a:prstGeom>
            <a:noFill/>
          </p:spPr>
          <p:txBody>
            <a:bodyPr wrap="none" rtlCol="0">
              <a:spAutoFit/>
            </a:bodyPr>
            <a:lstStyle/>
            <a:p>
              <a:r>
                <a:rPr kumimoji="1" lang="en-US" altLang="ja-JP" dirty="0"/>
                <a:t>player2</a:t>
              </a:r>
              <a:endParaRPr kumimoji="1" lang="ja-JP" altLang="en-US"/>
            </a:p>
          </p:txBody>
        </p:sp>
        <p:sp>
          <p:nvSpPr>
            <p:cNvPr id="12" name="フローチャート: 処理 11">
              <a:extLst>
                <a:ext uri="{FF2B5EF4-FFF2-40B4-BE49-F238E27FC236}">
                  <a16:creationId xmlns:a16="http://schemas.microsoft.com/office/drawing/2014/main" id="{B305C40D-173D-0018-65C5-5287FD02FD51}"/>
                </a:ext>
              </a:extLst>
            </p:cNvPr>
            <p:cNvSpPr/>
            <p:nvPr/>
          </p:nvSpPr>
          <p:spPr>
            <a:xfrm>
              <a:off x="7928973" y="4001294"/>
              <a:ext cx="1307468" cy="612648"/>
            </a:xfrm>
            <a:prstGeom prst="flowChart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3C2F0894-4FB1-CD7A-8B16-F4AA7920FCA9}"/>
                </a:ext>
              </a:extLst>
            </p:cNvPr>
            <p:cNvSpPr txBox="1"/>
            <p:nvPr/>
          </p:nvSpPr>
          <p:spPr>
            <a:xfrm>
              <a:off x="8101645" y="4131136"/>
              <a:ext cx="962123" cy="369332"/>
            </a:xfrm>
            <a:prstGeom prst="rect">
              <a:avLst/>
            </a:prstGeom>
            <a:noFill/>
          </p:spPr>
          <p:txBody>
            <a:bodyPr wrap="none" rtlCol="0">
              <a:spAutoFit/>
            </a:bodyPr>
            <a:lstStyle/>
            <a:p>
              <a:r>
                <a:rPr kumimoji="1" lang="en-US" altLang="ja-JP" dirty="0"/>
                <a:t>player3</a:t>
              </a:r>
              <a:endParaRPr kumimoji="1" lang="ja-JP" altLang="en-US"/>
            </a:p>
          </p:txBody>
        </p:sp>
        <p:cxnSp>
          <p:nvCxnSpPr>
            <p:cNvPr id="15" name="直線矢印コネクタ 14">
              <a:extLst>
                <a:ext uri="{FF2B5EF4-FFF2-40B4-BE49-F238E27FC236}">
                  <a16:creationId xmlns:a16="http://schemas.microsoft.com/office/drawing/2014/main" id="{CCFD0FD5-233E-5115-0234-193F47C797A3}"/>
                </a:ext>
              </a:extLst>
            </p:cNvPr>
            <p:cNvCxnSpPr>
              <a:stCxn id="4" idx="2"/>
              <a:endCxn id="6" idx="0"/>
            </p:cNvCxnSpPr>
            <p:nvPr/>
          </p:nvCxnSpPr>
          <p:spPr>
            <a:xfrm flipH="1">
              <a:off x="2958897" y="3219784"/>
              <a:ext cx="2846881" cy="78151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7" name="直線矢印コネクタ 16">
              <a:extLst>
                <a:ext uri="{FF2B5EF4-FFF2-40B4-BE49-F238E27FC236}">
                  <a16:creationId xmlns:a16="http://schemas.microsoft.com/office/drawing/2014/main" id="{8D75C2DD-D3C9-E625-94A9-63E562FDBB13}"/>
                </a:ext>
              </a:extLst>
            </p:cNvPr>
            <p:cNvCxnSpPr>
              <a:stCxn id="4" idx="2"/>
              <a:endCxn id="8" idx="0"/>
            </p:cNvCxnSpPr>
            <p:nvPr/>
          </p:nvCxnSpPr>
          <p:spPr>
            <a:xfrm flipH="1">
              <a:off x="4655284" y="3219784"/>
              <a:ext cx="1150494" cy="7815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15E52FDE-45AA-90A1-88B5-CDEA30AE3C54}"/>
                </a:ext>
              </a:extLst>
            </p:cNvPr>
            <p:cNvCxnSpPr>
              <a:stCxn id="4" idx="2"/>
              <a:endCxn id="10" idx="0"/>
            </p:cNvCxnSpPr>
            <p:nvPr/>
          </p:nvCxnSpPr>
          <p:spPr>
            <a:xfrm>
              <a:off x="5805778" y="3219784"/>
              <a:ext cx="1077206" cy="7815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2735F19-7E78-F845-9AC7-EAABA38857CE}"/>
                </a:ext>
              </a:extLst>
            </p:cNvPr>
            <p:cNvCxnSpPr>
              <a:stCxn id="4" idx="2"/>
              <a:endCxn id="12" idx="0"/>
            </p:cNvCxnSpPr>
            <p:nvPr/>
          </p:nvCxnSpPr>
          <p:spPr>
            <a:xfrm>
              <a:off x="5805778" y="3219784"/>
              <a:ext cx="2776929" cy="7815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35A43166-F41F-36CA-514C-83D64BEA63DB}"/>
                </a:ext>
              </a:extLst>
            </p:cNvPr>
            <p:cNvSpPr txBox="1"/>
            <p:nvPr/>
          </p:nvSpPr>
          <p:spPr>
            <a:xfrm>
              <a:off x="2635730" y="4738718"/>
              <a:ext cx="646331" cy="369332"/>
            </a:xfrm>
            <a:prstGeom prst="rect">
              <a:avLst/>
            </a:prstGeom>
            <a:noFill/>
          </p:spPr>
          <p:txBody>
            <a:bodyPr wrap="none" rtlCol="0">
              <a:spAutoFit/>
            </a:bodyPr>
            <a:lstStyle/>
            <a:p>
              <a:r>
                <a:rPr kumimoji="1" lang="ja-JP" altLang="en-US"/>
                <a:t>世界</a:t>
              </a:r>
            </a:p>
          </p:txBody>
        </p:sp>
        <p:sp>
          <p:nvSpPr>
            <p:cNvPr id="25" name="テキスト ボックス 24">
              <a:extLst>
                <a:ext uri="{FF2B5EF4-FFF2-40B4-BE49-F238E27FC236}">
                  <a16:creationId xmlns:a16="http://schemas.microsoft.com/office/drawing/2014/main" id="{0886D63A-ECD3-A92C-9717-A99381C9124C}"/>
                </a:ext>
              </a:extLst>
            </p:cNvPr>
            <p:cNvSpPr txBox="1"/>
            <p:nvPr/>
          </p:nvSpPr>
          <p:spPr>
            <a:xfrm>
              <a:off x="4270139" y="4734217"/>
              <a:ext cx="646331" cy="369332"/>
            </a:xfrm>
            <a:prstGeom prst="rect">
              <a:avLst/>
            </a:prstGeom>
            <a:noFill/>
          </p:spPr>
          <p:txBody>
            <a:bodyPr wrap="none" rtlCol="0">
              <a:spAutoFit/>
            </a:bodyPr>
            <a:lstStyle/>
            <a:p>
              <a:r>
                <a:rPr kumimoji="1" lang="ja-JP" altLang="en-US"/>
                <a:t>一高</a:t>
              </a:r>
            </a:p>
          </p:txBody>
        </p:sp>
        <p:sp>
          <p:nvSpPr>
            <p:cNvPr id="26" name="テキスト ボックス 25">
              <a:extLst>
                <a:ext uri="{FF2B5EF4-FFF2-40B4-BE49-F238E27FC236}">
                  <a16:creationId xmlns:a16="http://schemas.microsoft.com/office/drawing/2014/main" id="{765B90B7-5A72-FFA3-EF85-8AA5A0E5988F}"/>
                </a:ext>
              </a:extLst>
            </p:cNvPr>
            <p:cNvSpPr txBox="1"/>
            <p:nvPr/>
          </p:nvSpPr>
          <p:spPr>
            <a:xfrm>
              <a:off x="6566934" y="4734217"/>
              <a:ext cx="646331" cy="369332"/>
            </a:xfrm>
            <a:prstGeom prst="rect">
              <a:avLst/>
            </a:prstGeom>
            <a:noFill/>
          </p:spPr>
          <p:txBody>
            <a:bodyPr wrap="none" rtlCol="0">
              <a:spAutoFit/>
            </a:bodyPr>
            <a:lstStyle/>
            <a:p>
              <a:r>
                <a:rPr kumimoji="1" lang="ja-JP" altLang="en-US"/>
                <a:t>い山</a:t>
              </a:r>
            </a:p>
          </p:txBody>
        </p:sp>
        <p:sp>
          <p:nvSpPr>
            <p:cNvPr id="27" name="テキスト ボックス 26">
              <a:extLst>
                <a:ext uri="{FF2B5EF4-FFF2-40B4-BE49-F238E27FC236}">
                  <a16:creationId xmlns:a16="http://schemas.microsoft.com/office/drawing/2014/main" id="{FF93CEE2-B3EB-E5C6-2C8C-070E097EDEEF}"/>
                </a:ext>
              </a:extLst>
            </p:cNvPr>
            <p:cNvSpPr txBox="1"/>
            <p:nvPr/>
          </p:nvSpPr>
          <p:spPr>
            <a:xfrm>
              <a:off x="8417437" y="4743784"/>
              <a:ext cx="646331" cy="369332"/>
            </a:xfrm>
            <a:prstGeom prst="rect">
              <a:avLst/>
            </a:prstGeom>
            <a:noFill/>
          </p:spPr>
          <p:txBody>
            <a:bodyPr wrap="none" rtlCol="0">
              <a:spAutoFit/>
            </a:bodyPr>
            <a:lstStyle/>
            <a:p>
              <a:r>
                <a:rPr kumimoji="1" lang="ja-JP" altLang="en-US"/>
                <a:t>は？</a:t>
              </a:r>
            </a:p>
          </p:txBody>
        </p:sp>
      </p:grpSp>
      <p:sp>
        <p:nvSpPr>
          <p:cNvPr id="30" name="テキスト ボックス 29">
            <a:extLst>
              <a:ext uri="{FF2B5EF4-FFF2-40B4-BE49-F238E27FC236}">
                <a16:creationId xmlns:a16="http://schemas.microsoft.com/office/drawing/2014/main" id="{97BFB726-8196-0D69-CB39-4129028A7E4C}"/>
              </a:ext>
            </a:extLst>
          </p:cNvPr>
          <p:cNvSpPr txBox="1"/>
          <p:nvPr/>
        </p:nvSpPr>
        <p:spPr>
          <a:xfrm>
            <a:off x="6356807" y="6098362"/>
            <a:ext cx="1404552" cy="369332"/>
          </a:xfrm>
          <a:prstGeom prst="rect">
            <a:avLst/>
          </a:prstGeom>
          <a:noFill/>
        </p:spPr>
        <p:txBody>
          <a:bodyPr wrap="none" rtlCol="0">
            <a:spAutoFit/>
          </a:bodyPr>
          <a:lstStyle/>
          <a:p>
            <a:r>
              <a:rPr lang="ja-JP" altLang="en-US"/>
              <a:t>→</a:t>
            </a:r>
            <a:r>
              <a:rPr lang="en-US" altLang="ja-JP" dirty="0"/>
              <a:t> </a:t>
            </a:r>
            <a:r>
              <a:rPr lang="ja-JP" altLang="en-US"/>
              <a:t>富士山</a:t>
            </a:r>
            <a:r>
              <a:rPr lang="en-US" altLang="ja-JP" dirty="0"/>
              <a:t>!!!</a:t>
            </a:r>
            <a:endParaRPr kumimoji="1" lang="ja-JP" altLang="en-US"/>
          </a:p>
        </p:txBody>
      </p:sp>
    </p:spTree>
    <p:extLst>
      <p:ext uri="{BB962C8B-B14F-4D97-AF65-F5344CB8AC3E}">
        <p14:creationId xmlns:p14="http://schemas.microsoft.com/office/powerpoint/2010/main" val="413342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A299DF-D9BB-C829-A957-8298869B3D4E}"/>
              </a:ext>
            </a:extLst>
          </p:cNvPr>
          <p:cNvSpPr>
            <a:spLocks noGrp="1"/>
          </p:cNvSpPr>
          <p:nvPr>
            <p:ph type="title"/>
          </p:nvPr>
        </p:nvSpPr>
        <p:spPr/>
        <p:txBody>
          <a:bodyPr/>
          <a:lstStyle/>
          <a:p>
            <a:r>
              <a:rPr kumimoji="1" lang="en-US" altLang="ja-JP" dirty="0"/>
              <a:t>Discord </a:t>
            </a:r>
            <a:r>
              <a:rPr lang="en-US" altLang="ja-JP" dirty="0"/>
              <a:t>bot</a:t>
            </a:r>
            <a:r>
              <a:rPr lang="ja-JP" altLang="en-US"/>
              <a:t>にてゲーム実装</a:t>
            </a:r>
            <a:endParaRPr kumimoji="1" lang="ja-JP" altLang="en-US"/>
          </a:p>
        </p:txBody>
      </p:sp>
      <p:sp>
        <p:nvSpPr>
          <p:cNvPr id="9" name="コンテンツ プレースホルダー 2">
            <a:extLst>
              <a:ext uri="{FF2B5EF4-FFF2-40B4-BE49-F238E27FC236}">
                <a16:creationId xmlns:a16="http://schemas.microsoft.com/office/drawing/2014/main" id="{413187A5-E665-3F81-4569-21307287FE9D}"/>
              </a:ext>
            </a:extLst>
          </p:cNvPr>
          <p:cNvSpPr txBox="1">
            <a:spLocks/>
          </p:cNvSpPr>
          <p:nvPr/>
        </p:nvSpPr>
        <p:spPr>
          <a:xfrm>
            <a:off x="838200" y="1825625"/>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dirty="0"/>
              <a:t>Discord (</a:t>
            </a:r>
            <a:r>
              <a:rPr lang="ja-JP" altLang="en-US"/>
              <a:t>チャットアプリ</a:t>
            </a:r>
            <a:r>
              <a:rPr lang="en-US" altLang="ja-JP" dirty="0"/>
              <a:t>)</a:t>
            </a:r>
            <a:r>
              <a:rPr lang="ja-JP" altLang="en-US" b="1"/>
              <a:t>の</a:t>
            </a:r>
            <a:r>
              <a:rPr lang="en-US" altLang="ja-JP" b="1" dirty="0"/>
              <a:t>bot(</a:t>
            </a:r>
            <a:r>
              <a:rPr lang="ja-JP" altLang="en-US" b="1"/>
              <a:t>自動タスク処理プログラム</a:t>
            </a:r>
            <a:r>
              <a:rPr lang="en-US" altLang="ja-JP" b="1" dirty="0"/>
              <a:t>)</a:t>
            </a:r>
            <a:r>
              <a:rPr lang="ja-JP" altLang="en-US"/>
              <a:t>を用いてゲーム実装</a:t>
            </a:r>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r>
              <a:rPr lang="ja-JP" altLang="en-US"/>
              <a:t>・問題の生成、分割機能</a:t>
            </a:r>
            <a:endParaRPr lang="en-US" altLang="ja-JP" dirty="0"/>
          </a:p>
          <a:p>
            <a:pPr marL="0" indent="0">
              <a:buFont typeface="Arial" panose="020B0604020202020204" pitchFamily="34" charset="0"/>
              <a:buNone/>
            </a:pPr>
            <a:r>
              <a:rPr lang="ja-JP" altLang="en-US"/>
              <a:t>・コマンドを用いた解答及び正否の判定機能</a:t>
            </a:r>
            <a:endParaRPr lang="en-US" altLang="ja-JP" dirty="0"/>
          </a:p>
          <a:p>
            <a:pPr marL="0" indent="0">
              <a:buFont typeface="Arial" panose="020B0604020202020204" pitchFamily="34" charset="0"/>
              <a:buNone/>
            </a:pPr>
            <a:r>
              <a:rPr lang="ja-JP" altLang="en-US"/>
              <a:t>例</a:t>
            </a:r>
            <a:r>
              <a:rPr lang="en-US" altLang="ja-JP" dirty="0"/>
              <a:t>) </a:t>
            </a:r>
          </a:p>
          <a:p>
            <a:pPr marL="0" indent="0">
              <a:buFont typeface="Arial" panose="020B0604020202020204" pitchFamily="34" charset="0"/>
              <a:buNone/>
            </a:pPr>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r>
              <a:rPr lang="en-US" altLang="ja-JP" dirty="0"/>
              <a:t>Python</a:t>
            </a:r>
            <a:r>
              <a:rPr lang="ja-JP" altLang="en-US"/>
              <a:t>スクリプト</a:t>
            </a:r>
            <a:r>
              <a:rPr lang="en-US" altLang="ja-JP" dirty="0"/>
              <a:t>300</a:t>
            </a:r>
            <a:r>
              <a:rPr lang="ja-JP" altLang="en-US"/>
              <a:t>行で実装</a:t>
            </a:r>
            <a:r>
              <a:rPr lang="en-US" altLang="ja-JP" dirty="0"/>
              <a:t>!!!!!!!!!!</a:t>
            </a:r>
          </a:p>
          <a:p>
            <a:pPr marL="0" indent="0">
              <a:buNone/>
            </a:pPr>
            <a:r>
              <a:rPr lang="en-US" altLang="ja-JP" dirty="0"/>
              <a:t> </a:t>
            </a:r>
            <a:r>
              <a:rPr lang="ja-JP" altLang="en-US"/>
              <a:t>現時点で</a:t>
            </a:r>
            <a:r>
              <a:rPr lang="en-US" altLang="ja-JP" dirty="0"/>
              <a:t>bot</a:t>
            </a:r>
            <a:r>
              <a:rPr lang="ja-JP" altLang="en-US"/>
              <a:t>は稼働</a:t>
            </a:r>
            <a:r>
              <a:rPr lang="ja-JP" altLang="en-US" sz="2800"/>
              <a:t>中</a:t>
            </a:r>
            <a:r>
              <a:rPr lang="en-US" altLang="ja-JP" sz="2800" dirty="0"/>
              <a:t> (</a:t>
            </a:r>
            <a:r>
              <a:rPr lang="ja-JP" altLang="en-US" sz="2800"/>
              <a:t>未プレイ）</a:t>
            </a:r>
            <a:endParaRPr lang="en-US" altLang="ja-JP" sz="2800" dirty="0"/>
          </a:p>
        </p:txBody>
      </p:sp>
      <p:grpSp>
        <p:nvGrpSpPr>
          <p:cNvPr id="4" name="グループ化 3">
            <a:extLst>
              <a:ext uri="{FF2B5EF4-FFF2-40B4-BE49-F238E27FC236}">
                <a16:creationId xmlns:a16="http://schemas.microsoft.com/office/drawing/2014/main" id="{53E3B4A9-1322-F77C-5DDC-73F9C2F9D75B}"/>
              </a:ext>
            </a:extLst>
          </p:cNvPr>
          <p:cNvGrpSpPr/>
          <p:nvPr/>
        </p:nvGrpSpPr>
        <p:grpSpPr>
          <a:xfrm>
            <a:off x="8145646" y="2441959"/>
            <a:ext cx="3208154" cy="3678639"/>
            <a:chOff x="3445282" y="2722132"/>
            <a:chExt cx="3105891" cy="3603043"/>
          </a:xfrm>
        </p:grpSpPr>
        <p:sp>
          <p:nvSpPr>
            <p:cNvPr id="5" name="正方形/長方形 4">
              <a:extLst>
                <a:ext uri="{FF2B5EF4-FFF2-40B4-BE49-F238E27FC236}">
                  <a16:creationId xmlns:a16="http://schemas.microsoft.com/office/drawing/2014/main" id="{7BB7F47E-E618-FB08-10F1-148B0E0C2A7E}"/>
                </a:ext>
              </a:extLst>
            </p:cNvPr>
            <p:cNvSpPr/>
            <p:nvPr/>
          </p:nvSpPr>
          <p:spPr>
            <a:xfrm>
              <a:off x="3451012" y="5246054"/>
              <a:ext cx="2827282" cy="1079121"/>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3B00B39-E89E-5D15-EFE4-220ED7F259D9}"/>
                </a:ext>
              </a:extLst>
            </p:cNvPr>
            <p:cNvSpPr txBox="1"/>
            <p:nvPr/>
          </p:nvSpPr>
          <p:spPr>
            <a:xfrm>
              <a:off x="3451012" y="5476026"/>
              <a:ext cx="2253678" cy="633049"/>
            </a:xfrm>
            <a:prstGeom prst="rect">
              <a:avLst/>
            </a:prstGeom>
            <a:noFill/>
          </p:spPr>
          <p:txBody>
            <a:bodyPr wrap="none" rtlCol="0">
              <a:spAutoFit/>
            </a:bodyPr>
            <a:lstStyle/>
            <a:p>
              <a:r>
                <a:rPr kumimoji="1" lang="en-US" altLang="ja-JP" dirty="0"/>
                <a:t>Discord bot</a:t>
              </a:r>
            </a:p>
            <a:p>
              <a:r>
                <a:rPr lang="ja-JP" altLang="en-US"/>
                <a:t>→</a:t>
              </a:r>
              <a:r>
                <a:rPr lang="en-US" altLang="ja-JP" dirty="0"/>
                <a:t> </a:t>
              </a:r>
              <a:r>
                <a:rPr lang="ja-JP" altLang="en-US"/>
                <a:t>問題の生成、出題</a:t>
              </a:r>
              <a:endParaRPr lang="en-US" altLang="ja-JP" dirty="0"/>
            </a:p>
          </p:txBody>
        </p:sp>
        <p:sp>
          <p:nvSpPr>
            <p:cNvPr id="7" name="テキスト ボックス 6">
              <a:extLst>
                <a:ext uri="{FF2B5EF4-FFF2-40B4-BE49-F238E27FC236}">
                  <a16:creationId xmlns:a16="http://schemas.microsoft.com/office/drawing/2014/main" id="{E4ED8493-98B8-83EB-4DBF-7BD587E76DD6}"/>
                </a:ext>
              </a:extLst>
            </p:cNvPr>
            <p:cNvSpPr txBox="1"/>
            <p:nvPr/>
          </p:nvSpPr>
          <p:spPr>
            <a:xfrm>
              <a:off x="3445282" y="3002125"/>
              <a:ext cx="2700626" cy="633049"/>
            </a:xfrm>
            <a:prstGeom prst="rect">
              <a:avLst/>
            </a:prstGeom>
            <a:noFill/>
          </p:spPr>
          <p:txBody>
            <a:bodyPr wrap="none" rtlCol="0">
              <a:spAutoFit/>
            </a:bodyPr>
            <a:lstStyle/>
            <a:p>
              <a:r>
                <a:rPr kumimoji="1" lang="ja-JP" altLang="en-US"/>
                <a:t>ゲーム参加者</a:t>
              </a:r>
              <a:endParaRPr kumimoji="1" lang="en-US" altLang="ja-JP" dirty="0"/>
            </a:p>
            <a:p>
              <a:r>
                <a:rPr lang="ja-JP" altLang="en-US"/>
                <a:t>→</a:t>
              </a:r>
              <a:r>
                <a:rPr lang="en-US" altLang="ja-JP" dirty="0"/>
                <a:t> </a:t>
              </a:r>
              <a:r>
                <a:rPr lang="ja-JP" altLang="en-US"/>
                <a:t>出題された問題の解答</a:t>
              </a:r>
              <a:endParaRPr kumimoji="1" lang="ja-JP" altLang="en-US"/>
            </a:p>
          </p:txBody>
        </p:sp>
        <p:sp>
          <p:nvSpPr>
            <p:cNvPr id="8" name="正方形/長方形 7">
              <a:extLst>
                <a:ext uri="{FF2B5EF4-FFF2-40B4-BE49-F238E27FC236}">
                  <a16:creationId xmlns:a16="http://schemas.microsoft.com/office/drawing/2014/main" id="{638A0763-86AB-F7FA-2C1D-7352E0C97EF0}"/>
                </a:ext>
              </a:extLst>
            </p:cNvPr>
            <p:cNvSpPr/>
            <p:nvPr/>
          </p:nvSpPr>
          <p:spPr>
            <a:xfrm>
              <a:off x="3445282" y="2722132"/>
              <a:ext cx="2833011" cy="1079121"/>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0" name="上矢印 9">
              <a:extLst>
                <a:ext uri="{FF2B5EF4-FFF2-40B4-BE49-F238E27FC236}">
                  <a16:creationId xmlns:a16="http://schemas.microsoft.com/office/drawing/2014/main" id="{30E2E921-C1E0-7E8B-388B-E55FFF3DBABB}"/>
                </a:ext>
              </a:extLst>
            </p:cNvPr>
            <p:cNvSpPr/>
            <p:nvPr/>
          </p:nvSpPr>
          <p:spPr>
            <a:xfrm>
              <a:off x="3640197" y="3907248"/>
              <a:ext cx="504497" cy="104546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E659FAA-E867-9D38-F1EE-43B9F691C451}"/>
                </a:ext>
              </a:extLst>
            </p:cNvPr>
            <p:cNvSpPr txBox="1"/>
            <p:nvPr/>
          </p:nvSpPr>
          <p:spPr>
            <a:xfrm>
              <a:off x="4081978" y="4347382"/>
              <a:ext cx="646331" cy="369332"/>
            </a:xfrm>
            <a:prstGeom prst="rect">
              <a:avLst/>
            </a:prstGeom>
            <a:noFill/>
          </p:spPr>
          <p:txBody>
            <a:bodyPr wrap="none" rtlCol="0">
              <a:spAutoFit/>
            </a:bodyPr>
            <a:lstStyle/>
            <a:p>
              <a:r>
                <a:rPr kumimoji="1" lang="ja-JP" altLang="en-US"/>
                <a:t>出題</a:t>
              </a:r>
            </a:p>
          </p:txBody>
        </p:sp>
        <p:sp>
          <p:nvSpPr>
            <p:cNvPr id="12" name="上矢印 11">
              <a:extLst>
                <a:ext uri="{FF2B5EF4-FFF2-40B4-BE49-F238E27FC236}">
                  <a16:creationId xmlns:a16="http://schemas.microsoft.com/office/drawing/2014/main" id="{43B3BBB3-4CC0-7ED8-C5EE-72CD76B881BB}"/>
                </a:ext>
              </a:extLst>
            </p:cNvPr>
            <p:cNvSpPr/>
            <p:nvPr/>
          </p:nvSpPr>
          <p:spPr>
            <a:xfrm rot="10800000">
              <a:off x="5473190" y="3959216"/>
              <a:ext cx="504497" cy="104546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7681909-DEE3-C588-3F9F-3768E3045B1B}"/>
                </a:ext>
              </a:extLst>
            </p:cNvPr>
            <p:cNvSpPr txBox="1"/>
            <p:nvPr/>
          </p:nvSpPr>
          <p:spPr>
            <a:xfrm>
              <a:off x="5890102" y="4343169"/>
              <a:ext cx="661071" cy="377755"/>
            </a:xfrm>
            <a:prstGeom prst="rect">
              <a:avLst/>
            </a:prstGeom>
            <a:noFill/>
          </p:spPr>
          <p:txBody>
            <a:bodyPr wrap="none" rtlCol="0">
              <a:spAutoFit/>
            </a:bodyPr>
            <a:lstStyle/>
            <a:p>
              <a:r>
                <a:rPr kumimoji="1" lang="ja-JP" altLang="en-US"/>
                <a:t>回答</a:t>
              </a:r>
            </a:p>
          </p:txBody>
        </p:sp>
      </p:grpSp>
      <p:pic>
        <p:nvPicPr>
          <p:cNvPr id="15" name="図 14">
            <a:extLst>
              <a:ext uri="{FF2B5EF4-FFF2-40B4-BE49-F238E27FC236}">
                <a16:creationId xmlns:a16="http://schemas.microsoft.com/office/drawing/2014/main" id="{E45E71CD-B9D2-B649-D80B-CF494F40014E}"/>
              </a:ext>
            </a:extLst>
          </p:cNvPr>
          <p:cNvPicPr>
            <a:picLocks noChangeAspect="1"/>
          </p:cNvPicPr>
          <p:nvPr/>
        </p:nvPicPr>
        <p:blipFill>
          <a:blip r:embed="rId3"/>
          <a:stretch>
            <a:fillRect/>
          </a:stretch>
        </p:blipFill>
        <p:spPr>
          <a:xfrm>
            <a:off x="1685696" y="4289847"/>
            <a:ext cx="3529615" cy="1248278"/>
          </a:xfrm>
          <a:prstGeom prst="rect">
            <a:avLst/>
          </a:prstGeom>
        </p:spPr>
      </p:pic>
    </p:spTree>
    <p:extLst>
      <p:ext uri="{BB962C8B-B14F-4D97-AF65-F5344CB8AC3E}">
        <p14:creationId xmlns:p14="http://schemas.microsoft.com/office/powerpoint/2010/main" val="2259257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052D3E-8734-4F86-DC50-E6C0186CF0A1}"/>
              </a:ext>
            </a:extLst>
          </p:cNvPr>
          <p:cNvSpPr>
            <a:spLocks noGrp="1"/>
          </p:cNvSpPr>
          <p:nvPr>
            <p:ph type="title"/>
          </p:nvPr>
        </p:nvSpPr>
        <p:spPr/>
        <p:txBody>
          <a:bodyPr/>
          <a:lstStyle/>
          <a:p>
            <a:r>
              <a:rPr kumimoji="1" lang="ja-JP" altLang="en-US"/>
              <a:t>まとめと課題</a:t>
            </a:r>
          </a:p>
        </p:txBody>
      </p:sp>
      <p:sp>
        <p:nvSpPr>
          <p:cNvPr id="3" name="コンテンツ プレースホルダー 2">
            <a:extLst>
              <a:ext uri="{FF2B5EF4-FFF2-40B4-BE49-F238E27FC236}">
                <a16:creationId xmlns:a16="http://schemas.microsoft.com/office/drawing/2014/main" id="{7EF67F6F-7BEC-1EE4-BD2A-569269201D9F}"/>
              </a:ext>
            </a:extLst>
          </p:cNvPr>
          <p:cNvSpPr>
            <a:spLocks noGrp="1"/>
          </p:cNvSpPr>
          <p:nvPr>
            <p:ph idx="1"/>
          </p:nvPr>
        </p:nvSpPr>
        <p:spPr>
          <a:xfrm>
            <a:off x="838199" y="1825625"/>
            <a:ext cx="10787743" cy="4667250"/>
          </a:xfrm>
        </p:spPr>
        <p:txBody>
          <a:bodyPr>
            <a:normAutofit/>
          </a:bodyPr>
          <a:lstStyle/>
          <a:p>
            <a:r>
              <a:rPr lang="ja-JP" altLang="en-US" sz="3000"/>
              <a:t>「研究室に来ること」と「人と議論する」ことに注目し、</a:t>
            </a:r>
            <a:endParaRPr lang="en-US" altLang="ja-JP" sz="3000" dirty="0"/>
          </a:p>
          <a:p>
            <a:pPr marL="0" indent="0">
              <a:buNone/>
            </a:pPr>
            <a:r>
              <a:rPr lang="en-US" altLang="ja-JP" sz="3000" dirty="0"/>
              <a:t>   </a:t>
            </a:r>
            <a:r>
              <a:rPr lang="ja-JP" altLang="en-US" sz="3000"/>
              <a:t>ゲーミフィケーションを考え</a:t>
            </a:r>
            <a:r>
              <a:rPr lang="en-US" altLang="ja-JP" sz="3000" dirty="0"/>
              <a:t>Discord bot</a:t>
            </a:r>
            <a:r>
              <a:rPr lang="ja-JP" altLang="en-US" sz="3000"/>
              <a:t>にてゲームを実装</a:t>
            </a:r>
            <a:endParaRPr lang="en-US" altLang="ja-JP" sz="3000" dirty="0"/>
          </a:p>
          <a:p>
            <a:pPr marL="0" indent="0">
              <a:buNone/>
            </a:pPr>
            <a:endParaRPr lang="en-US" altLang="ja-JP" sz="3000" dirty="0"/>
          </a:p>
          <a:p>
            <a:r>
              <a:rPr lang="ja-JP" altLang="en-US" sz="3000"/>
              <a:t>現時点で未プレイ</a:t>
            </a:r>
            <a:r>
              <a:rPr lang="en-US" altLang="ja-JP" sz="3000" dirty="0"/>
              <a:t> </a:t>
            </a:r>
            <a:r>
              <a:rPr kumimoji="1" lang="ja-JP" altLang="en-US" sz="3000"/>
              <a:t>→</a:t>
            </a:r>
            <a:r>
              <a:rPr kumimoji="1" lang="en-US" altLang="ja-JP" sz="3000" dirty="0"/>
              <a:t>  </a:t>
            </a:r>
            <a:r>
              <a:rPr kumimoji="1" lang="ja-JP" altLang="en-US" sz="3000"/>
              <a:t>実用で使えるか評価したい</a:t>
            </a:r>
            <a:endParaRPr kumimoji="1" lang="en-US" altLang="ja-JP" sz="3000" dirty="0"/>
          </a:p>
          <a:p>
            <a:pPr marL="0" indent="0">
              <a:buNone/>
            </a:pPr>
            <a:endParaRPr kumimoji="1" lang="en-US" altLang="ja-JP" sz="3000" dirty="0"/>
          </a:p>
          <a:p>
            <a:r>
              <a:rPr lang="ja-JP" altLang="en-US" sz="3000"/>
              <a:t>「議論する」ことに適切な出題に関する一般的な方針は</a:t>
            </a:r>
            <a:br>
              <a:rPr lang="en-US" altLang="ja-JP" sz="3000" dirty="0"/>
            </a:br>
            <a:r>
              <a:rPr lang="en-US" altLang="ja-JP" sz="3000" dirty="0"/>
              <a:t>	</a:t>
            </a:r>
            <a:r>
              <a:rPr lang="ja-JP" altLang="en-US" sz="3000"/>
              <a:t>今後の課題</a:t>
            </a:r>
            <a:endParaRPr lang="en-US" altLang="ja-JP" sz="3000" dirty="0"/>
          </a:p>
          <a:p>
            <a:pPr marL="0" indent="0">
              <a:buNone/>
            </a:pPr>
            <a:endParaRPr kumimoji="1" lang="en-US" altLang="ja-JP" dirty="0"/>
          </a:p>
          <a:p>
            <a:endParaRPr kumimoji="1" lang="ja-JP" altLang="en-US"/>
          </a:p>
        </p:txBody>
      </p:sp>
    </p:spTree>
    <p:extLst>
      <p:ext uri="{BB962C8B-B14F-4D97-AF65-F5344CB8AC3E}">
        <p14:creationId xmlns:p14="http://schemas.microsoft.com/office/powerpoint/2010/main" val="1900286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221498-42A0-1F1E-54A7-9518F2E3D397}"/>
              </a:ext>
            </a:extLst>
          </p:cNvPr>
          <p:cNvSpPr>
            <a:spLocks noGrp="1"/>
          </p:cNvSpPr>
          <p:nvPr>
            <p:ph type="title"/>
          </p:nvPr>
        </p:nvSpPr>
        <p:spPr/>
        <p:txBody>
          <a:bodyPr/>
          <a:lstStyle/>
          <a:p>
            <a:r>
              <a:rPr lang="ja-JP" altLang="en-US"/>
              <a:t>アンロック</a:t>
            </a:r>
            <a:r>
              <a:rPr lang="en-US" altLang="ja-JP" dirty="0"/>
              <a:t>(</a:t>
            </a:r>
            <a:r>
              <a:rPr lang="ja-JP" altLang="en-US"/>
              <a:t>経験値要素</a:t>
            </a:r>
            <a:r>
              <a:rPr lang="en-US" altLang="ja-JP" dirty="0"/>
              <a:t>)</a:t>
            </a:r>
            <a:r>
              <a:rPr kumimoji="1" lang="ja-JP" altLang="en-US"/>
              <a:t>の詳細</a:t>
            </a:r>
          </a:p>
        </p:txBody>
      </p:sp>
      <p:sp>
        <p:nvSpPr>
          <p:cNvPr id="3" name="コンテンツ プレースホルダー 2">
            <a:extLst>
              <a:ext uri="{FF2B5EF4-FFF2-40B4-BE49-F238E27FC236}">
                <a16:creationId xmlns:a16="http://schemas.microsoft.com/office/drawing/2014/main" id="{B9F3C243-51CA-500A-F5DE-704F2330C8AA}"/>
              </a:ext>
            </a:extLst>
          </p:cNvPr>
          <p:cNvSpPr>
            <a:spLocks noGrp="1"/>
          </p:cNvSpPr>
          <p:nvPr>
            <p:ph idx="1"/>
          </p:nvPr>
        </p:nvSpPr>
        <p:spPr/>
        <p:txBody>
          <a:bodyPr/>
          <a:lstStyle/>
          <a:p>
            <a:pPr marL="0" indent="0">
              <a:buNone/>
            </a:pPr>
            <a:endParaRPr kumimoji="1" lang="en-US" altLang="ja-JP" dirty="0"/>
          </a:p>
          <a:p>
            <a:pPr marL="0" indent="0">
              <a:buNone/>
            </a:pPr>
            <a:endParaRPr kumimoji="1" lang="ja-JP" altLang="en-US"/>
          </a:p>
        </p:txBody>
      </p:sp>
      <p:pic>
        <p:nvPicPr>
          <p:cNvPr id="4" name="図 3">
            <a:extLst>
              <a:ext uri="{FF2B5EF4-FFF2-40B4-BE49-F238E27FC236}">
                <a16:creationId xmlns:a16="http://schemas.microsoft.com/office/drawing/2014/main" id="{22763F45-79D9-6C23-33F0-468AD440D958}"/>
              </a:ext>
            </a:extLst>
          </p:cNvPr>
          <p:cNvPicPr>
            <a:picLocks noChangeAspect="1"/>
          </p:cNvPicPr>
          <p:nvPr/>
        </p:nvPicPr>
        <p:blipFill>
          <a:blip r:embed="rId2"/>
          <a:stretch>
            <a:fillRect/>
          </a:stretch>
        </p:blipFill>
        <p:spPr>
          <a:xfrm>
            <a:off x="838200" y="1825625"/>
            <a:ext cx="9944100" cy="2413000"/>
          </a:xfrm>
          <a:prstGeom prst="rect">
            <a:avLst/>
          </a:prstGeom>
        </p:spPr>
      </p:pic>
    </p:spTree>
    <p:extLst>
      <p:ext uri="{BB962C8B-B14F-4D97-AF65-F5344CB8AC3E}">
        <p14:creationId xmlns:p14="http://schemas.microsoft.com/office/powerpoint/2010/main" val="4037560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A299DF-D9BB-C829-A957-8298869B3D4E}"/>
              </a:ext>
            </a:extLst>
          </p:cNvPr>
          <p:cNvSpPr>
            <a:spLocks noGrp="1"/>
          </p:cNvSpPr>
          <p:nvPr>
            <p:ph type="title"/>
          </p:nvPr>
        </p:nvSpPr>
        <p:spPr/>
        <p:txBody>
          <a:bodyPr/>
          <a:lstStyle/>
          <a:p>
            <a:r>
              <a:rPr kumimoji="1" lang="ja-JP" altLang="en-US"/>
              <a:t>付録</a:t>
            </a:r>
            <a:r>
              <a:rPr kumimoji="1" lang="en-US" altLang="ja-JP" dirty="0"/>
              <a:t> : </a:t>
            </a:r>
            <a:r>
              <a:rPr kumimoji="1" lang="ja-JP" altLang="en-US"/>
              <a:t>なんで</a:t>
            </a:r>
            <a:r>
              <a:rPr kumimoji="1" lang="en-US" altLang="ja-JP" dirty="0"/>
              <a:t>Discord </a:t>
            </a:r>
            <a:r>
              <a:rPr lang="en-US" altLang="ja-JP" dirty="0"/>
              <a:t>bot?</a:t>
            </a:r>
            <a:endParaRPr kumimoji="1" lang="ja-JP" altLang="en-US"/>
          </a:p>
        </p:txBody>
      </p:sp>
      <p:sp>
        <p:nvSpPr>
          <p:cNvPr id="9" name="コンテンツ プレースホルダー 2">
            <a:extLst>
              <a:ext uri="{FF2B5EF4-FFF2-40B4-BE49-F238E27FC236}">
                <a16:creationId xmlns:a16="http://schemas.microsoft.com/office/drawing/2014/main" id="{413187A5-E665-3F81-4569-21307287FE9D}"/>
              </a:ext>
            </a:extLst>
          </p:cNvPr>
          <p:cNvSpPr txBox="1">
            <a:spLocks/>
          </p:cNvSpPr>
          <p:nvPr/>
        </p:nvSpPr>
        <p:spPr>
          <a:xfrm>
            <a:off x="838200" y="1825625"/>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endParaRPr lang="en-US" altLang="ja-JP" dirty="0"/>
          </a:p>
          <a:p>
            <a:pPr marL="0" indent="0">
              <a:buFont typeface="Arial" panose="020B0604020202020204" pitchFamily="34" charset="0"/>
              <a:buNone/>
            </a:pPr>
            <a:r>
              <a:rPr lang="ja-JP" altLang="en-US"/>
              <a:t>「</a:t>
            </a:r>
            <a:r>
              <a:rPr lang="en-US" altLang="ja-JP" dirty="0" err="1"/>
              <a:t>Ueno_Quest</a:t>
            </a:r>
            <a:r>
              <a:rPr lang="ja-JP" altLang="en-US"/>
              <a:t>」→</a:t>
            </a:r>
            <a:r>
              <a:rPr lang="en-US" altLang="ja-JP" dirty="0"/>
              <a:t> Discord with Python</a:t>
            </a:r>
          </a:p>
          <a:p>
            <a:pPr marL="0" indent="0">
              <a:buFont typeface="Arial" panose="020B0604020202020204" pitchFamily="34" charset="0"/>
              <a:buNone/>
            </a:pPr>
            <a:endParaRPr lang="en-US" altLang="ja-JP" dirty="0"/>
          </a:p>
          <a:p>
            <a:pPr marL="0" indent="0">
              <a:buFont typeface="Arial" panose="020B0604020202020204" pitchFamily="34" charset="0"/>
              <a:buNone/>
            </a:pPr>
            <a:r>
              <a:rPr lang="ja-JP" altLang="en-US"/>
              <a:t>なんで</a:t>
            </a:r>
            <a:r>
              <a:rPr lang="en-US" altLang="ja-JP" dirty="0"/>
              <a:t>Discord bot</a:t>
            </a:r>
            <a:r>
              <a:rPr lang="ja-JP" altLang="en-US"/>
              <a:t>？</a:t>
            </a:r>
            <a:endParaRPr lang="en-US" altLang="ja-JP" dirty="0"/>
          </a:p>
          <a:p>
            <a:pPr marL="0" indent="0">
              <a:buFont typeface="Arial" panose="020B0604020202020204" pitchFamily="34" charset="0"/>
              <a:buNone/>
            </a:pPr>
            <a:r>
              <a:rPr lang="ja-JP" altLang="en-US"/>
              <a:t>→</a:t>
            </a:r>
            <a:r>
              <a:rPr lang="en-US" altLang="ja-JP" dirty="0"/>
              <a:t> </a:t>
            </a:r>
            <a:r>
              <a:rPr lang="ja-JP" altLang="en-US"/>
              <a:t>公式が配布している</a:t>
            </a:r>
            <a:r>
              <a:rPr lang="en-US" altLang="ja-JP" dirty="0"/>
              <a:t>Python</a:t>
            </a:r>
            <a:r>
              <a:rPr lang="ja-JP" altLang="en-US"/>
              <a:t>のライブラリ</a:t>
            </a:r>
            <a:endParaRPr lang="en-US" altLang="ja-JP" dirty="0"/>
          </a:p>
          <a:p>
            <a:pPr marL="0" indent="0">
              <a:buFont typeface="Arial" panose="020B0604020202020204" pitchFamily="34" charset="0"/>
              <a:buNone/>
            </a:pPr>
            <a:r>
              <a:rPr lang="en-US" altLang="ja-JP" dirty="0"/>
              <a:t>    </a:t>
            </a:r>
            <a:r>
              <a:rPr lang="en-US" altLang="ja-JP" dirty="0" err="1"/>
              <a:t>ChatGPT</a:t>
            </a:r>
            <a:r>
              <a:rPr lang="ja-JP" altLang="en-US"/>
              <a:t>の</a:t>
            </a:r>
            <a:r>
              <a:rPr lang="en-US" altLang="ja-JP" dirty="0"/>
              <a:t>API</a:t>
            </a:r>
            <a:r>
              <a:rPr lang="ja-JP" altLang="en-US"/>
              <a:t>も</a:t>
            </a:r>
            <a:r>
              <a:rPr lang="en-US" altLang="ja-JP" dirty="0"/>
              <a:t>Python</a:t>
            </a:r>
            <a:r>
              <a:rPr lang="ja-JP" altLang="en-US"/>
              <a:t>で使える</a:t>
            </a:r>
            <a:endParaRPr lang="en-US" altLang="ja-JP" dirty="0"/>
          </a:p>
          <a:p>
            <a:pPr marL="0" indent="0">
              <a:buFont typeface="Arial" panose="020B0604020202020204" pitchFamily="34" charset="0"/>
              <a:buNone/>
            </a:pPr>
            <a:r>
              <a:rPr lang="en-US" altLang="ja-JP" dirty="0"/>
              <a:t>   </a:t>
            </a:r>
            <a:r>
              <a:rPr lang="ja-JP" altLang="en-US"/>
              <a:t>→</a:t>
            </a:r>
            <a:r>
              <a:rPr lang="en-US" altLang="ja-JP" dirty="0"/>
              <a:t> bot</a:t>
            </a:r>
            <a:r>
              <a:rPr lang="ja-JP" altLang="en-US"/>
              <a:t>が問題を自動生成してくれる</a:t>
            </a:r>
            <a:endParaRPr lang="en-US" altLang="ja-JP" dirty="0"/>
          </a:p>
        </p:txBody>
      </p:sp>
    </p:spTree>
    <p:extLst>
      <p:ext uri="{BB962C8B-B14F-4D97-AF65-F5344CB8AC3E}">
        <p14:creationId xmlns:p14="http://schemas.microsoft.com/office/powerpoint/2010/main" val="151827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901EF-2928-470B-8CBB-D97271DDA0B7}"/>
              </a:ext>
            </a:extLst>
          </p:cNvPr>
          <p:cNvSpPr>
            <a:spLocks noGrp="1"/>
          </p:cNvSpPr>
          <p:nvPr>
            <p:ph type="title"/>
          </p:nvPr>
        </p:nvSpPr>
        <p:spPr/>
        <p:txBody>
          <a:bodyPr/>
          <a:lstStyle/>
          <a:p>
            <a:r>
              <a:rPr kumimoji="1" lang="ja-JP" altLang="en-US"/>
              <a:t>付録</a:t>
            </a:r>
            <a:r>
              <a:rPr kumimoji="1" lang="en-US" altLang="ja-JP" dirty="0"/>
              <a:t> :</a:t>
            </a:r>
            <a:r>
              <a:rPr kumimoji="1" lang="ja-JP" altLang="en-US"/>
              <a:t>「卒論ウォッチ」の評価</a:t>
            </a:r>
          </a:p>
        </p:txBody>
      </p:sp>
      <p:pic>
        <p:nvPicPr>
          <p:cNvPr id="4" name="コンテンツ プレースホルダー 3">
            <a:extLst>
              <a:ext uri="{FF2B5EF4-FFF2-40B4-BE49-F238E27FC236}">
                <a16:creationId xmlns:a16="http://schemas.microsoft.com/office/drawing/2014/main" id="{72B12EC0-03FB-FA99-B6B8-8797C82320FD}"/>
              </a:ext>
            </a:extLst>
          </p:cNvPr>
          <p:cNvPicPr>
            <a:picLocks noGrp="1" noChangeAspect="1"/>
          </p:cNvPicPr>
          <p:nvPr>
            <p:ph idx="1"/>
          </p:nvPr>
        </p:nvPicPr>
        <p:blipFill>
          <a:blip r:embed="rId2"/>
          <a:stretch>
            <a:fillRect/>
          </a:stretch>
        </p:blipFill>
        <p:spPr>
          <a:xfrm>
            <a:off x="838200" y="1448412"/>
            <a:ext cx="5892800" cy="3721100"/>
          </a:xfrm>
          <a:prstGeom prst="rect">
            <a:avLst/>
          </a:prstGeom>
        </p:spPr>
      </p:pic>
      <p:sp>
        <p:nvSpPr>
          <p:cNvPr id="5" name="テキスト ボックス 4">
            <a:extLst>
              <a:ext uri="{FF2B5EF4-FFF2-40B4-BE49-F238E27FC236}">
                <a16:creationId xmlns:a16="http://schemas.microsoft.com/office/drawing/2014/main" id="{84AA8D8E-6A14-FB85-D4D0-CEC534F7C9E9}"/>
              </a:ext>
            </a:extLst>
          </p:cNvPr>
          <p:cNvSpPr txBox="1"/>
          <p:nvPr/>
        </p:nvSpPr>
        <p:spPr>
          <a:xfrm>
            <a:off x="6731000" y="4800180"/>
            <a:ext cx="492443" cy="369332"/>
          </a:xfrm>
          <a:prstGeom prst="rect">
            <a:avLst/>
          </a:prstGeom>
          <a:noFill/>
        </p:spPr>
        <p:txBody>
          <a:bodyPr wrap="none" rtlCol="0">
            <a:spAutoFit/>
          </a:bodyPr>
          <a:lstStyle/>
          <a:p>
            <a:r>
              <a:rPr lang="en-US" altLang="ja-JP" sz="1800" dirty="0"/>
              <a:t>[1]</a:t>
            </a:r>
            <a:endParaRPr kumimoji="1" lang="ja-JP" altLang="en-US"/>
          </a:p>
        </p:txBody>
      </p:sp>
      <p:sp>
        <p:nvSpPr>
          <p:cNvPr id="6" name="テキスト ボックス 5">
            <a:extLst>
              <a:ext uri="{FF2B5EF4-FFF2-40B4-BE49-F238E27FC236}">
                <a16:creationId xmlns:a16="http://schemas.microsoft.com/office/drawing/2014/main" id="{39B27F4F-5350-90E7-199D-29A48A92DD71}"/>
              </a:ext>
            </a:extLst>
          </p:cNvPr>
          <p:cNvSpPr txBox="1"/>
          <p:nvPr/>
        </p:nvSpPr>
        <p:spPr>
          <a:xfrm>
            <a:off x="572671" y="6176963"/>
            <a:ext cx="10071988" cy="923330"/>
          </a:xfrm>
          <a:prstGeom prst="rect">
            <a:avLst/>
          </a:prstGeom>
          <a:noFill/>
        </p:spPr>
        <p:txBody>
          <a:bodyPr wrap="none" rtlCol="0">
            <a:spAutoFit/>
          </a:bodyPr>
          <a:lstStyle/>
          <a:p>
            <a:r>
              <a:rPr kumimoji="1" lang="en-US" altLang="ja-JP" dirty="0"/>
              <a:t>[1] </a:t>
            </a:r>
            <a:r>
              <a:rPr lang="ja-JP" altLang="en-US" b="0">
                <a:effectLst/>
                <a:latin typeface="Arial" panose="020B0604020202020204" pitchFamily="34" charset="0"/>
                <a:cs typeface="Arial" panose="020B0604020202020204" pitchFamily="34" charset="0"/>
              </a:rPr>
              <a:t>鳴海 拓志</a:t>
            </a:r>
            <a:r>
              <a:rPr lang="en-US" altLang="ja-JP" b="0" dirty="0">
                <a:effectLst/>
                <a:latin typeface="Arial" panose="020B0604020202020204" pitchFamily="34" charset="0"/>
                <a:cs typeface="Arial" panose="020B0604020202020204" pitchFamily="34" charset="0"/>
              </a:rPr>
              <a:t>,</a:t>
            </a:r>
            <a:r>
              <a:rPr lang="ja-JP" altLang="en-US" b="0">
                <a:effectLst/>
                <a:latin typeface="Arial" panose="020B0604020202020204" pitchFamily="34" charset="0"/>
                <a:cs typeface="Arial" panose="020B0604020202020204" pitchFamily="34" charset="0"/>
              </a:rPr>
              <a:t>谷川 智洋</a:t>
            </a:r>
            <a:r>
              <a:rPr lang="en-US" altLang="ja-JP" b="0" dirty="0">
                <a:effectLst/>
                <a:latin typeface="Arial" panose="020B0604020202020204" pitchFamily="34" charset="0"/>
                <a:cs typeface="Arial" panose="020B0604020202020204" pitchFamily="34" charset="0"/>
              </a:rPr>
              <a:t>,</a:t>
            </a:r>
            <a:r>
              <a:rPr lang="ja-JP" altLang="en-US" b="0">
                <a:effectLst/>
                <a:latin typeface="Arial" panose="020B0604020202020204" pitchFamily="34" charset="0"/>
                <a:cs typeface="Arial" panose="020B0604020202020204" pitchFamily="34" charset="0"/>
              </a:rPr>
              <a:t>廣瀬 通孝</a:t>
            </a:r>
            <a:r>
              <a:rPr lang="en-US" altLang="ja-JP" b="0" dirty="0">
                <a:effectLst/>
                <a:latin typeface="Arial" panose="020B0604020202020204" pitchFamily="34" charset="0"/>
                <a:cs typeface="Arial" panose="020B0604020202020204" pitchFamily="34" charset="0"/>
              </a:rPr>
              <a:t>. </a:t>
            </a:r>
            <a:r>
              <a:rPr lang="ja-JP" altLang="en-US" b="0">
                <a:effectLst/>
                <a:latin typeface="Arial" panose="020B0604020202020204" pitchFamily="34" charset="0"/>
                <a:cs typeface="Arial" panose="020B0604020202020204" pitchFamily="34" charset="0"/>
              </a:rPr>
              <a:t>ゲーミフィケーションを利用した研究活動の可視化と活性化</a:t>
            </a:r>
            <a:r>
              <a:rPr lang="en-US" altLang="ja-JP" b="0" dirty="0">
                <a:effectLst/>
                <a:latin typeface="Arial" panose="020B0604020202020204" pitchFamily="34" charset="0"/>
                <a:cs typeface="Arial" panose="020B0604020202020204" pitchFamily="34" charset="0"/>
              </a:rPr>
              <a:t>. </a:t>
            </a:r>
          </a:p>
          <a:p>
            <a:r>
              <a:rPr lang="en" altLang="ja-JP" b="0" dirty="0">
                <a:effectLst/>
                <a:latin typeface="Arial" panose="020B0604020202020204" pitchFamily="34" charset="0"/>
                <a:cs typeface="Arial" panose="020B0604020202020204" pitchFamily="34" charset="0"/>
              </a:rPr>
              <a:t>      The 29th Annual Conference of the Japanese Society for Artificial Intelligence, 2015</a:t>
            </a:r>
          </a:p>
          <a:p>
            <a:endParaRPr kumimoji="1" lang="ja-JP" altLang="en-US"/>
          </a:p>
        </p:txBody>
      </p:sp>
    </p:spTree>
    <p:extLst>
      <p:ext uri="{BB962C8B-B14F-4D97-AF65-F5344CB8AC3E}">
        <p14:creationId xmlns:p14="http://schemas.microsoft.com/office/powerpoint/2010/main" val="234758868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10606</TotalTime>
  <Words>2050</Words>
  <Application>Microsoft Macintosh PowerPoint</Application>
  <PresentationFormat>ワイド画面</PresentationFormat>
  <Paragraphs>244</Paragraphs>
  <Slides>11</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「研究室に来ること」への ゲーミフィケーションの適用</vt:lpstr>
      <vt:lpstr>研究室に人来ますか？</vt:lpstr>
      <vt:lpstr>どうしたら来てもらえるか？</vt:lpstr>
      <vt:lpstr>ゲーミフィケーションとは</vt:lpstr>
      <vt:lpstr>「研究室に来る」ゲーミフィケーション</vt:lpstr>
      <vt:lpstr>クイズゲーム 「Ueno_Quest」</vt:lpstr>
      <vt:lpstr>Discord botにてゲーム実装</vt:lpstr>
      <vt:lpstr>まとめと課題</vt:lpstr>
      <vt:lpstr>アンロック(経験値要素)の詳細</vt:lpstr>
      <vt:lpstr>付録 : なんでDiscord bot?</vt:lpstr>
      <vt:lpstr>付録 :「卒論ウォッチ」の評価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「研究室に来ること」への ゲーミフィケーションの適応</dc:title>
  <dc:creator>村井 一彬_舞鶴E学生</dc:creator>
  <cp:lastModifiedBy>村井 一彬_舞鶴E学生</cp:lastModifiedBy>
  <cp:revision>74</cp:revision>
  <dcterms:created xsi:type="dcterms:W3CDTF">2025-02-03T19:35:00Z</dcterms:created>
  <dcterms:modified xsi:type="dcterms:W3CDTF">2025-02-13T00:14:50Z</dcterms:modified>
</cp:coreProperties>
</file>